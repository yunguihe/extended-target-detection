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9"/>
  </p:notesMasterIdLst>
  <p:sldIdLst>
    <p:sldId id="256" r:id="rId3"/>
    <p:sldId id="258" r:id="rId4"/>
    <p:sldId id="257" r:id="rId5"/>
    <p:sldId id="292" r:id="rId6"/>
    <p:sldId id="323" r:id="rId7"/>
    <p:sldId id="326" r:id="rId8"/>
    <p:sldId id="324" r:id="rId9"/>
    <p:sldId id="327" r:id="rId10"/>
    <p:sldId id="328" r:id="rId11"/>
    <p:sldId id="325" r:id="rId12"/>
    <p:sldId id="295" r:id="rId13"/>
    <p:sldId id="329" r:id="rId14"/>
    <p:sldId id="330" r:id="rId15"/>
    <p:sldId id="333" r:id="rId16"/>
    <p:sldId id="331" r:id="rId17"/>
    <p:sldId id="33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172"/>
    <a:srgbClr val="FF9C00"/>
    <a:srgbClr val="FECB30"/>
    <a:srgbClr val="B23AF9"/>
    <a:srgbClr val="6F42FF"/>
    <a:srgbClr val="2AA1FF"/>
    <a:srgbClr val="1CA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09957-232C-4C23-BD71-3CF7C12B4AAB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8AB2E-B972-4F63-8917-8AA4D44F9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8AB2E-B972-4F63-8917-8AA4D44F908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E374D-6E28-41D4-B529-E46F9BB5955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8AB2E-B972-4F63-8917-8AA4D44F908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E374D-6E28-41D4-B529-E46F9BB595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FFD92-D352-DEB0-1969-8CBB3C26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A0981B-484A-9453-8D54-D2BF785BB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D51B6D-5DCD-6F93-99FF-D167635AE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B61444-0DAB-BA0F-4005-64DD75D4B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8AB2E-B972-4F63-8917-8AA4D44F908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808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3658-04EB-A96D-FBCA-BF1B2727A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ACB6E2-EB01-704C-AEF9-E237C1979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35EB59-15F8-FCCF-253A-F5E24C8DA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A6915B-300D-9157-B827-0F268CCA32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E374D-6E28-41D4-B529-E46F9BB595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3786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43D74-66ED-DFF5-3A1B-D7A5F9D02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863A44-7E1B-1926-E615-357247274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31D39E-9BEF-805A-0EA0-B6B65F767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28F54E-BBC7-0F12-F440-D7E041DB6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8AB2E-B972-4F63-8917-8AA4D44F908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20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128C7-677A-F381-AAEE-8EE6897F2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741748-A740-98CC-ED25-5F0DD7CA5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DEB883-A062-6315-5BD4-608C74B23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F0B310-746C-44E3-82B4-12CC2DE46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E374D-6E28-41D4-B529-E46F9BB595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4548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D2B9B-419D-E7B4-6100-4D46C93F5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5E690B-3053-BC2A-EBCD-491135EFB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25D8ED-9459-B328-C38A-2B5414160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235991-CBA3-9D49-5CF7-51BDD66BC3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E374D-6E28-41D4-B529-E46F9BB595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0690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2B4A2-9216-BBF1-E6DD-2F697326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E2F647-AA72-1D36-6CE4-F135794B4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E97918-E547-EFAC-0ED1-6A2376ED8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C3AB9E-70D4-730D-C9D0-D1EC01515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8AB2E-B972-4F63-8917-8AA4D44F908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276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E374D-6E28-41D4-B529-E46F9BB595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ADD1E-3F3D-AD9A-234B-7341E2DC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88009F-F48D-5C73-C1E1-4FBFCA5D8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1BB2FA-0F44-21FC-D9A4-13B8CDB07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B74FF3-6D38-24EC-0BF5-8832B2B1A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E374D-6E28-41D4-B529-E46F9BB595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079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B9A1C-48B2-39F9-43FD-EE256C232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8F5774-246E-64FB-7F3D-56DC101BE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364E84-1280-0E60-8079-C29F1B378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CA6340-49D6-136A-564B-47E56BF8C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E374D-6E28-41D4-B529-E46F9BB595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7585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B5494-915E-7730-A169-05218F55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59854D-A83C-8560-A302-4FFA95F93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3F054C-6B12-85C4-906E-1781DD416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3C9DCB-1DF4-135A-A0B4-201317EFB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E374D-6E28-41D4-B529-E46F9BB595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1438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5E21B-3923-04CC-188D-84CADE3C9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0CB167-01EA-10BA-FFBD-A5158E79E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F0A1E9-594B-B9F4-2E28-555BF877D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58670B-326C-E375-2D77-90D87CE20B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E374D-6E28-41D4-B529-E46F9BB595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3372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EAB1-411C-4DEA-A2BA-9E18AE25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C47E7F-2D99-4871-56DF-4CACE96A6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4EA2F3-7954-CBED-39F2-10D31DE1D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27B44D-8504-67D8-FE86-5406F3ED14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E374D-6E28-41D4-B529-E46F9BB595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9732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3000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1437" y="209880"/>
            <a:ext cx="10850563" cy="663575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book-and-cd_43679"/>
          <p:cNvSpPr>
            <a:spLocks noChangeAspect="1"/>
          </p:cNvSpPr>
          <p:nvPr userDrawn="1"/>
        </p:nvSpPr>
        <p:spPr bwMode="auto">
          <a:xfrm>
            <a:off x="520658" y="414668"/>
            <a:ext cx="609685" cy="488288"/>
          </a:xfrm>
          <a:custGeom>
            <a:avLst/>
            <a:gdLst>
              <a:gd name="connsiteX0" fmla="*/ 452113 w 560604"/>
              <a:gd name="connsiteY0" fmla="*/ 77314 h 448980"/>
              <a:gd name="connsiteX1" fmla="*/ 417185 w 560604"/>
              <a:gd name="connsiteY1" fmla="*/ 112165 h 448980"/>
              <a:gd name="connsiteX2" fmla="*/ 452113 w 560604"/>
              <a:gd name="connsiteY2" fmla="*/ 145726 h 448980"/>
              <a:gd name="connsiteX3" fmla="*/ 485747 w 560604"/>
              <a:gd name="connsiteY3" fmla="*/ 112165 h 448980"/>
              <a:gd name="connsiteX4" fmla="*/ 452113 w 560604"/>
              <a:gd name="connsiteY4" fmla="*/ 77314 h 448980"/>
              <a:gd name="connsiteX5" fmla="*/ 118850 w 560604"/>
              <a:gd name="connsiteY5" fmla="*/ 64516 h 448980"/>
              <a:gd name="connsiteX6" fmla="*/ 40048 w 560604"/>
              <a:gd name="connsiteY6" fmla="*/ 77417 h 448980"/>
              <a:gd name="connsiteX7" fmla="*/ 40048 w 560604"/>
              <a:gd name="connsiteY7" fmla="*/ 392214 h 448980"/>
              <a:gd name="connsiteX8" fmla="*/ 107224 w 560604"/>
              <a:gd name="connsiteY8" fmla="*/ 380602 h 448980"/>
              <a:gd name="connsiteX9" fmla="*/ 255786 w 560604"/>
              <a:gd name="connsiteY9" fmla="*/ 412856 h 448980"/>
              <a:gd name="connsiteX10" fmla="*/ 255786 w 560604"/>
              <a:gd name="connsiteY10" fmla="*/ 277390 h 448980"/>
              <a:gd name="connsiteX11" fmla="*/ 246743 w 560604"/>
              <a:gd name="connsiteY11" fmla="*/ 287711 h 448980"/>
              <a:gd name="connsiteX12" fmla="*/ 246743 w 560604"/>
              <a:gd name="connsiteY12" fmla="*/ 109671 h 448980"/>
              <a:gd name="connsiteX13" fmla="*/ 118850 w 560604"/>
              <a:gd name="connsiteY13" fmla="*/ 64516 h 448980"/>
              <a:gd name="connsiteX14" fmla="*/ 452113 w 560604"/>
              <a:gd name="connsiteY14" fmla="*/ 64406 h 448980"/>
              <a:gd name="connsiteX15" fmla="*/ 498683 w 560604"/>
              <a:gd name="connsiteY15" fmla="*/ 112165 h 448980"/>
              <a:gd name="connsiteX16" fmla="*/ 452113 w 560604"/>
              <a:gd name="connsiteY16" fmla="*/ 158634 h 448980"/>
              <a:gd name="connsiteX17" fmla="*/ 404248 w 560604"/>
              <a:gd name="connsiteY17" fmla="*/ 112165 h 448980"/>
              <a:gd name="connsiteX18" fmla="*/ 452113 w 560604"/>
              <a:gd name="connsiteY18" fmla="*/ 64406 h 448980"/>
              <a:gd name="connsiteX19" fmla="*/ 452058 w 560604"/>
              <a:gd name="connsiteY19" fmla="*/ 59344 h 448980"/>
              <a:gd name="connsiteX20" fmla="*/ 399076 w 560604"/>
              <a:gd name="connsiteY20" fmla="*/ 112237 h 448980"/>
              <a:gd name="connsiteX21" fmla="*/ 452058 w 560604"/>
              <a:gd name="connsiteY21" fmla="*/ 163840 h 448980"/>
              <a:gd name="connsiteX22" fmla="*/ 505039 w 560604"/>
              <a:gd name="connsiteY22" fmla="*/ 112237 h 448980"/>
              <a:gd name="connsiteX23" fmla="*/ 452058 w 560604"/>
              <a:gd name="connsiteY23" fmla="*/ 59344 h 448980"/>
              <a:gd name="connsiteX24" fmla="*/ 118850 w 560604"/>
              <a:gd name="connsiteY24" fmla="*/ 50324 h 448980"/>
              <a:gd name="connsiteX25" fmla="*/ 257078 w 560604"/>
              <a:gd name="connsiteY25" fmla="*/ 99350 h 448980"/>
              <a:gd name="connsiteX26" fmla="*/ 334589 w 560604"/>
              <a:gd name="connsiteY26" fmla="*/ 58065 h 448980"/>
              <a:gd name="connsiteX27" fmla="*/ 329422 w 560604"/>
              <a:gd name="connsiteY27" fmla="*/ 76127 h 448980"/>
              <a:gd name="connsiteX28" fmla="*/ 268705 w 560604"/>
              <a:gd name="connsiteY28" fmla="*/ 109671 h 448980"/>
              <a:gd name="connsiteX29" fmla="*/ 268705 w 560604"/>
              <a:gd name="connsiteY29" fmla="*/ 287711 h 448980"/>
              <a:gd name="connsiteX30" fmla="*/ 259662 w 560604"/>
              <a:gd name="connsiteY30" fmla="*/ 277390 h 448980"/>
              <a:gd name="connsiteX31" fmla="*/ 259662 w 560604"/>
              <a:gd name="connsiteY31" fmla="*/ 412856 h 448980"/>
              <a:gd name="connsiteX32" fmla="*/ 405641 w 560604"/>
              <a:gd name="connsiteY32" fmla="*/ 380602 h 448980"/>
              <a:gd name="connsiteX33" fmla="*/ 475400 w 560604"/>
              <a:gd name="connsiteY33" fmla="*/ 392214 h 448980"/>
              <a:gd name="connsiteX34" fmla="*/ 475400 w 560604"/>
              <a:gd name="connsiteY34" fmla="*/ 233525 h 448980"/>
              <a:gd name="connsiteX35" fmla="*/ 510280 w 560604"/>
              <a:gd name="connsiteY35" fmla="*/ 221914 h 448980"/>
              <a:gd name="connsiteX36" fmla="*/ 510280 w 560604"/>
              <a:gd name="connsiteY36" fmla="*/ 437369 h 448980"/>
              <a:gd name="connsiteX37" fmla="*/ 290666 w 560604"/>
              <a:gd name="connsiteY37" fmla="*/ 437369 h 448980"/>
              <a:gd name="connsiteX38" fmla="*/ 258370 w 560604"/>
              <a:gd name="connsiteY38" fmla="*/ 448980 h 448980"/>
              <a:gd name="connsiteX39" fmla="*/ 226074 w 560604"/>
              <a:gd name="connsiteY39" fmla="*/ 437369 h 448980"/>
              <a:gd name="connsiteX40" fmla="*/ 0 w 560604"/>
              <a:gd name="connsiteY40" fmla="*/ 437369 h 448980"/>
              <a:gd name="connsiteX41" fmla="*/ 0 w 560604"/>
              <a:gd name="connsiteY41" fmla="*/ 113541 h 448980"/>
              <a:gd name="connsiteX42" fmla="*/ 24545 w 560604"/>
              <a:gd name="connsiteY42" fmla="*/ 96769 h 448980"/>
              <a:gd name="connsiteX43" fmla="*/ 24545 w 560604"/>
              <a:gd name="connsiteY43" fmla="*/ 67096 h 448980"/>
              <a:gd name="connsiteX44" fmla="*/ 29713 w 560604"/>
              <a:gd name="connsiteY44" fmla="*/ 65806 h 448980"/>
              <a:gd name="connsiteX45" fmla="*/ 118850 w 560604"/>
              <a:gd name="connsiteY45" fmla="*/ 50324 h 448980"/>
              <a:gd name="connsiteX46" fmla="*/ 449473 w 560604"/>
              <a:gd name="connsiteY46" fmla="*/ 0 h 448980"/>
              <a:gd name="connsiteX47" fmla="*/ 560604 w 560604"/>
              <a:gd name="connsiteY47" fmla="*/ 109657 h 448980"/>
              <a:gd name="connsiteX48" fmla="*/ 449473 w 560604"/>
              <a:gd name="connsiteY48" fmla="*/ 219313 h 448980"/>
              <a:gd name="connsiteX49" fmla="*/ 339634 w 560604"/>
              <a:gd name="connsiteY49" fmla="*/ 109657 h 448980"/>
              <a:gd name="connsiteX50" fmla="*/ 449473 w 560604"/>
              <a:gd name="connsiteY50" fmla="*/ 0 h 448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60604" h="448980">
                <a:moveTo>
                  <a:pt x="452113" y="77314"/>
                </a:moveTo>
                <a:cubicBezTo>
                  <a:pt x="432708" y="77314"/>
                  <a:pt x="417185" y="92804"/>
                  <a:pt x="417185" y="112165"/>
                </a:cubicBezTo>
                <a:cubicBezTo>
                  <a:pt x="417185" y="130237"/>
                  <a:pt x="432708" y="145726"/>
                  <a:pt x="452113" y="145726"/>
                </a:cubicBezTo>
                <a:cubicBezTo>
                  <a:pt x="471517" y="145726"/>
                  <a:pt x="485747" y="130237"/>
                  <a:pt x="485747" y="112165"/>
                </a:cubicBezTo>
                <a:cubicBezTo>
                  <a:pt x="485747" y="92804"/>
                  <a:pt x="470223" y="77314"/>
                  <a:pt x="452113" y="77314"/>
                </a:cubicBezTo>
                <a:close/>
                <a:moveTo>
                  <a:pt x="118850" y="64516"/>
                </a:moveTo>
                <a:cubicBezTo>
                  <a:pt x="81387" y="64516"/>
                  <a:pt x="50382" y="73547"/>
                  <a:pt x="40048" y="77417"/>
                </a:cubicBezTo>
                <a:lnTo>
                  <a:pt x="40048" y="392214"/>
                </a:lnTo>
                <a:cubicBezTo>
                  <a:pt x="58133" y="384473"/>
                  <a:pt x="81387" y="380602"/>
                  <a:pt x="107224" y="380602"/>
                </a:cubicBezTo>
                <a:cubicBezTo>
                  <a:pt x="171816" y="380602"/>
                  <a:pt x="236408" y="405115"/>
                  <a:pt x="255786" y="412856"/>
                </a:cubicBezTo>
                <a:lnTo>
                  <a:pt x="255786" y="277390"/>
                </a:lnTo>
                <a:lnTo>
                  <a:pt x="246743" y="287711"/>
                </a:lnTo>
                <a:lnTo>
                  <a:pt x="246743" y="109671"/>
                </a:lnTo>
                <a:cubicBezTo>
                  <a:pt x="211863" y="79997"/>
                  <a:pt x="169232" y="64516"/>
                  <a:pt x="118850" y="64516"/>
                </a:cubicBezTo>
                <a:close/>
                <a:moveTo>
                  <a:pt x="452113" y="64406"/>
                </a:moveTo>
                <a:cubicBezTo>
                  <a:pt x="477985" y="64406"/>
                  <a:pt x="498683" y="86350"/>
                  <a:pt x="498683" y="112165"/>
                </a:cubicBezTo>
                <a:cubicBezTo>
                  <a:pt x="498683" y="137981"/>
                  <a:pt x="477985" y="158634"/>
                  <a:pt x="452113" y="158634"/>
                </a:cubicBezTo>
                <a:cubicBezTo>
                  <a:pt x="426240" y="158634"/>
                  <a:pt x="404248" y="137981"/>
                  <a:pt x="404248" y="112165"/>
                </a:cubicBezTo>
                <a:cubicBezTo>
                  <a:pt x="404248" y="86350"/>
                  <a:pt x="426240" y="64406"/>
                  <a:pt x="452113" y="64406"/>
                </a:cubicBezTo>
                <a:close/>
                <a:moveTo>
                  <a:pt x="452058" y="59344"/>
                </a:moveTo>
                <a:cubicBezTo>
                  <a:pt x="422336" y="59344"/>
                  <a:pt x="399076" y="82565"/>
                  <a:pt x="399076" y="112237"/>
                </a:cubicBezTo>
                <a:cubicBezTo>
                  <a:pt x="399076" y="140618"/>
                  <a:pt x="422336" y="163840"/>
                  <a:pt x="452058" y="163840"/>
                </a:cubicBezTo>
                <a:cubicBezTo>
                  <a:pt x="480486" y="163840"/>
                  <a:pt x="505039" y="140618"/>
                  <a:pt x="505039" y="112237"/>
                </a:cubicBezTo>
                <a:cubicBezTo>
                  <a:pt x="505039" y="82565"/>
                  <a:pt x="480486" y="59344"/>
                  <a:pt x="452058" y="59344"/>
                </a:cubicBezTo>
                <a:close/>
                <a:moveTo>
                  <a:pt x="118850" y="50324"/>
                </a:moveTo>
                <a:cubicBezTo>
                  <a:pt x="173108" y="50324"/>
                  <a:pt x="219614" y="67096"/>
                  <a:pt x="257078" y="99350"/>
                </a:cubicBezTo>
                <a:cubicBezTo>
                  <a:pt x="280331" y="79997"/>
                  <a:pt x="306168" y="65806"/>
                  <a:pt x="334589" y="58065"/>
                </a:cubicBezTo>
                <a:cubicBezTo>
                  <a:pt x="332005" y="64516"/>
                  <a:pt x="330713" y="69676"/>
                  <a:pt x="329422" y="76127"/>
                </a:cubicBezTo>
                <a:cubicBezTo>
                  <a:pt x="307460" y="82578"/>
                  <a:pt x="286791" y="94189"/>
                  <a:pt x="268705" y="109671"/>
                </a:cubicBezTo>
                <a:lnTo>
                  <a:pt x="268705" y="287711"/>
                </a:lnTo>
                <a:lnTo>
                  <a:pt x="259662" y="277390"/>
                </a:lnTo>
                <a:lnTo>
                  <a:pt x="259662" y="412856"/>
                </a:lnTo>
                <a:cubicBezTo>
                  <a:pt x="279039" y="405115"/>
                  <a:pt x="339756" y="380602"/>
                  <a:pt x="405641" y="380602"/>
                </a:cubicBezTo>
                <a:cubicBezTo>
                  <a:pt x="431478" y="380602"/>
                  <a:pt x="454731" y="384473"/>
                  <a:pt x="475400" y="392214"/>
                </a:cubicBezTo>
                <a:lnTo>
                  <a:pt x="475400" y="233525"/>
                </a:lnTo>
                <a:cubicBezTo>
                  <a:pt x="488319" y="230945"/>
                  <a:pt x="499945" y="227074"/>
                  <a:pt x="510280" y="221914"/>
                </a:cubicBezTo>
                <a:lnTo>
                  <a:pt x="510280" y="437369"/>
                </a:lnTo>
                <a:lnTo>
                  <a:pt x="290666" y="437369"/>
                </a:lnTo>
                <a:cubicBezTo>
                  <a:pt x="282915" y="445110"/>
                  <a:pt x="271288" y="448980"/>
                  <a:pt x="258370" y="448980"/>
                </a:cubicBezTo>
                <a:cubicBezTo>
                  <a:pt x="245451" y="448980"/>
                  <a:pt x="233825" y="445110"/>
                  <a:pt x="226074" y="437369"/>
                </a:cubicBezTo>
                <a:lnTo>
                  <a:pt x="0" y="437369"/>
                </a:lnTo>
                <a:lnTo>
                  <a:pt x="0" y="113541"/>
                </a:lnTo>
                <a:cubicBezTo>
                  <a:pt x="0" y="105800"/>
                  <a:pt x="9043" y="100640"/>
                  <a:pt x="24545" y="96769"/>
                </a:cubicBezTo>
                <a:lnTo>
                  <a:pt x="24545" y="67096"/>
                </a:lnTo>
                <a:lnTo>
                  <a:pt x="29713" y="65806"/>
                </a:lnTo>
                <a:cubicBezTo>
                  <a:pt x="31005" y="64516"/>
                  <a:pt x="68468" y="50324"/>
                  <a:pt x="118850" y="50324"/>
                </a:cubicBezTo>
                <a:close/>
                <a:moveTo>
                  <a:pt x="449473" y="0"/>
                </a:moveTo>
                <a:cubicBezTo>
                  <a:pt x="510208" y="0"/>
                  <a:pt x="560604" y="49023"/>
                  <a:pt x="560604" y="109657"/>
                </a:cubicBezTo>
                <a:cubicBezTo>
                  <a:pt x="560604" y="170290"/>
                  <a:pt x="510208" y="219313"/>
                  <a:pt x="449473" y="219313"/>
                </a:cubicBezTo>
                <a:cubicBezTo>
                  <a:pt x="388739" y="219313"/>
                  <a:pt x="339634" y="170290"/>
                  <a:pt x="339634" y="109657"/>
                </a:cubicBezTo>
                <a:cubicBezTo>
                  <a:pt x="339634" y="49023"/>
                  <a:pt x="388739" y="0"/>
                  <a:pt x="449473" y="0"/>
                </a:cubicBezTo>
                <a:close/>
              </a:path>
            </a:pathLst>
          </a:custGeom>
          <a:solidFill>
            <a:srgbClr val="1A3172"/>
          </a:solidFill>
          <a:ln>
            <a:noFill/>
          </a:ln>
        </p:spPr>
      </p:sp>
    </p:spTree>
  </p:cSld>
  <p:clrMapOvr>
    <a:masterClrMapping/>
  </p:clrMapOvr>
  <p:transition spd="slow" advTm="3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3848100"/>
          </a:xfrm>
          <a:prstGeom prst="rect">
            <a:avLst/>
          </a:prstGeom>
          <a:solidFill>
            <a:srgbClr val="1A31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76F4B-A296-492A-8FB9-C78E7B25B44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8236D-BA36-4C90-BC5E-4C81E99777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Tm="3000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 spd="slow" advTm="3000">
    <p:push dir="u"/>
  </p:transition>
  <p:hf sldNum="0" hdr="0" ft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9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8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矩形 116"/>
          <p:cNvSpPr/>
          <p:nvPr/>
        </p:nvSpPr>
        <p:spPr>
          <a:xfrm flipH="1">
            <a:off x="677419" y="598161"/>
            <a:ext cx="10825884" cy="5667826"/>
          </a:xfrm>
          <a:prstGeom prst="rect">
            <a:avLst/>
          </a:prstGeom>
          <a:blipFill dpi="0" rotWithShape="1">
            <a:blip r:embed="rId4">
              <a:alphaModFix amt="8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716532" y="4900965"/>
            <a:ext cx="10825884" cy="14083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1026052" y="5394358"/>
            <a:ext cx="2879011" cy="406487"/>
            <a:chOff x="1038752" y="5253033"/>
            <a:chExt cx="2879011" cy="406487"/>
          </a:xfrm>
        </p:grpSpPr>
        <p:grpSp>
          <p:nvGrpSpPr>
            <p:cNvPr id="131" name="组合 130"/>
            <p:cNvGrpSpPr/>
            <p:nvPr/>
          </p:nvGrpSpPr>
          <p:grpSpPr>
            <a:xfrm>
              <a:off x="1546569" y="5253033"/>
              <a:ext cx="1855688" cy="391431"/>
              <a:chOff x="1546569" y="5326964"/>
              <a:chExt cx="1855688" cy="317500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1692618" y="5326964"/>
                <a:ext cx="1571281" cy="317500"/>
              </a:xfrm>
              <a:prstGeom prst="rect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endParaRPr>
              </a:p>
            </p:txBody>
          </p:sp>
          <p:sp>
            <p:nvSpPr>
              <p:cNvPr id="119" name="椭圆 118"/>
              <p:cNvSpPr/>
              <p:nvPr/>
            </p:nvSpPr>
            <p:spPr>
              <a:xfrm>
                <a:off x="1546569" y="5326964"/>
                <a:ext cx="292100" cy="317500"/>
              </a:xfrm>
              <a:prstGeom prst="ellipse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endParaRPr>
              </a:p>
            </p:txBody>
          </p:sp>
          <p:sp>
            <p:nvSpPr>
              <p:cNvPr id="126" name="椭圆 125"/>
              <p:cNvSpPr/>
              <p:nvPr/>
            </p:nvSpPr>
            <p:spPr>
              <a:xfrm>
                <a:off x="3110157" y="5326964"/>
                <a:ext cx="292100" cy="317500"/>
              </a:xfrm>
              <a:prstGeom prst="ellipse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endParaRPr>
              </a:p>
            </p:txBody>
          </p:sp>
        </p:grpSp>
        <p:sp>
          <p:nvSpPr>
            <p:cNvPr id="124" name="文本占位符 1110"/>
            <p:cNvSpPr txBox="1"/>
            <p:nvPr/>
          </p:nvSpPr>
          <p:spPr>
            <a:xfrm>
              <a:off x="1038752" y="5268089"/>
              <a:ext cx="2879011" cy="3914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r" defTabSz="913765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None/>
                <a:defRPr sz="1500" b="0" kern="1200">
                  <a:solidFill>
                    <a:srgbClr val="08A0E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汇报人：王文彪</a:t>
              </a:r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3625370" y="5399183"/>
            <a:ext cx="2879011" cy="401662"/>
            <a:chOff x="6064368" y="-979684"/>
            <a:chExt cx="3102362" cy="401662"/>
          </a:xfrm>
        </p:grpSpPr>
        <p:grpSp>
          <p:nvGrpSpPr>
            <p:cNvPr id="137" name="组合 136"/>
            <p:cNvGrpSpPr/>
            <p:nvPr/>
          </p:nvGrpSpPr>
          <p:grpSpPr>
            <a:xfrm>
              <a:off x="6196432" y="-979684"/>
              <a:ext cx="2858407" cy="391432"/>
              <a:chOff x="6196432" y="-979684"/>
              <a:chExt cx="2858407" cy="391432"/>
            </a:xfrm>
          </p:grpSpPr>
          <p:sp>
            <p:nvSpPr>
              <p:cNvPr id="133" name="矩形 132"/>
              <p:cNvSpPr/>
              <p:nvPr/>
            </p:nvSpPr>
            <p:spPr>
              <a:xfrm>
                <a:off x="6322310" y="-979684"/>
                <a:ext cx="2586479" cy="391431"/>
              </a:xfrm>
              <a:prstGeom prst="rect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endParaRPr>
              </a:p>
            </p:txBody>
          </p:sp>
          <p:sp>
            <p:nvSpPr>
              <p:cNvPr id="134" name="椭圆 133"/>
              <p:cNvSpPr/>
              <p:nvPr/>
            </p:nvSpPr>
            <p:spPr>
              <a:xfrm>
                <a:off x="6196432" y="-979683"/>
                <a:ext cx="292100" cy="391431"/>
              </a:xfrm>
              <a:prstGeom prst="ellipse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endParaRPr>
              </a:p>
            </p:txBody>
          </p:sp>
          <p:sp>
            <p:nvSpPr>
              <p:cNvPr id="135" name="椭圆 134"/>
              <p:cNvSpPr/>
              <p:nvPr/>
            </p:nvSpPr>
            <p:spPr>
              <a:xfrm>
                <a:off x="8762739" y="-979683"/>
                <a:ext cx="292100" cy="391431"/>
              </a:xfrm>
              <a:prstGeom prst="ellipse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endParaRPr>
              </a:p>
            </p:txBody>
          </p:sp>
        </p:grpSp>
        <p:sp>
          <p:nvSpPr>
            <p:cNvPr id="125" name="文本占位符 1111"/>
            <p:cNvSpPr txBox="1"/>
            <p:nvPr/>
          </p:nvSpPr>
          <p:spPr>
            <a:xfrm>
              <a:off x="6064368" y="-969453"/>
              <a:ext cx="3102362" cy="3914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r" defTabSz="913765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None/>
                <a:defRPr sz="1500" b="0" kern="1200">
                  <a:solidFill>
                    <a:srgbClr val="08A0E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汇报时间：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2026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年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03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月</a:t>
              </a:r>
              <a:endPara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55600" dist="88900" dir="2700000" algn="tl" rotWithShape="0">
                    <a:prstClr val="black">
                      <a:alpha val="28000"/>
                    </a:prstClr>
                  </a:outerShdw>
                </a:effectLst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endParaRPr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8429625" y="837908"/>
            <a:ext cx="2809874" cy="457054"/>
            <a:chOff x="8429625" y="837908"/>
            <a:chExt cx="2809874" cy="457054"/>
          </a:xfrm>
        </p:grpSpPr>
        <p:grpSp>
          <p:nvGrpSpPr>
            <p:cNvPr id="143" name="组合 142"/>
            <p:cNvGrpSpPr/>
            <p:nvPr/>
          </p:nvGrpSpPr>
          <p:grpSpPr>
            <a:xfrm>
              <a:off x="10795050" y="837908"/>
              <a:ext cx="444449" cy="457054"/>
              <a:chOff x="10795050" y="837908"/>
              <a:chExt cx="444449" cy="457054"/>
            </a:xfrm>
          </p:grpSpPr>
          <p:sp>
            <p:nvSpPr>
              <p:cNvPr id="141" name="businessman_57134"/>
              <p:cNvSpPr>
                <a:spLocks noChangeAspect="1"/>
              </p:cNvSpPr>
              <p:nvPr/>
            </p:nvSpPr>
            <p:spPr bwMode="auto">
              <a:xfrm>
                <a:off x="10884001" y="895204"/>
                <a:ext cx="279300" cy="304842"/>
              </a:xfrm>
              <a:custGeom>
                <a:avLst/>
                <a:gdLst>
                  <a:gd name="connsiteX0" fmla="*/ 243589 w 557114"/>
                  <a:gd name="connsiteY0" fmla="*/ 355438 h 608062"/>
                  <a:gd name="connsiteX1" fmla="*/ 277656 w 557114"/>
                  <a:gd name="connsiteY1" fmla="*/ 355438 h 608062"/>
                  <a:gd name="connsiteX2" fmla="*/ 277940 w 557114"/>
                  <a:gd name="connsiteY2" fmla="*/ 355438 h 608062"/>
                  <a:gd name="connsiteX3" fmla="*/ 278604 w 557114"/>
                  <a:gd name="connsiteY3" fmla="*/ 355438 h 608062"/>
                  <a:gd name="connsiteX4" fmla="*/ 279174 w 557114"/>
                  <a:gd name="connsiteY4" fmla="*/ 355438 h 608062"/>
                  <a:gd name="connsiteX5" fmla="*/ 279458 w 557114"/>
                  <a:gd name="connsiteY5" fmla="*/ 355438 h 608062"/>
                  <a:gd name="connsiteX6" fmla="*/ 279553 w 557114"/>
                  <a:gd name="connsiteY6" fmla="*/ 355438 h 608062"/>
                  <a:gd name="connsiteX7" fmla="*/ 313620 w 557114"/>
                  <a:gd name="connsiteY7" fmla="*/ 355438 h 608062"/>
                  <a:gd name="connsiteX8" fmla="*/ 324438 w 557114"/>
                  <a:gd name="connsiteY8" fmla="*/ 375432 h 608062"/>
                  <a:gd name="connsiteX9" fmla="*/ 298152 w 557114"/>
                  <a:gd name="connsiteY9" fmla="*/ 430202 h 608062"/>
                  <a:gd name="connsiteX10" fmla="*/ 301948 w 557114"/>
                  <a:gd name="connsiteY10" fmla="*/ 510272 h 608062"/>
                  <a:gd name="connsiteX11" fmla="*/ 356891 w 557114"/>
                  <a:gd name="connsiteY11" fmla="*/ 389172 h 608062"/>
                  <a:gd name="connsiteX12" fmla="*/ 356986 w 557114"/>
                  <a:gd name="connsiteY12" fmla="*/ 389172 h 608062"/>
                  <a:gd name="connsiteX13" fmla="*/ 376628 w 557114"/>
                  <a:gd name="connsiteY13" fmla="*/ 375337 h 608062"/>
                  <a:gd name="connsiteX14" fmla="*/ 383556 w 557114"/>
                  <a:gd name="connsiteY14" fmla="*/ 376474 h 608062"/>
                  <a:gd name="connsiteX15" fmla="*/ 383745 w 557114"/>
                  <a:gd name="connsiteY15" fmla="*/ 376569 h 608062"/>
                  <a:gd name="connsiteX16" fmla="*/ 518588 w 557114"/>
                  <a:gd name="connsiteY16" fmla="*/ 438920 h 608062"/>
                  <a:gd name="connsiteX17" fmla="*/ 557114 w 557114"/>
                  <a:gd name="connsiteY17" fmla="*/ 482224 h 608062"/>
                  <a:gd name="connsiteX18" fmla="*/ 557114 w 557114"/>
                  <a:gd name="connsiteY18" fmla="*/ 608062 h 608062"/>
                  <a:gd name="connsiteX19" fmla="*/ 279743 w 557114"/>
                  <a:gd name="connsiteY19" fmla="*/ 608062 h 608062"/>
                  <a:gd name="connsiteX20" fmla="*/ 279458 w 557114"/>
                  <a:gd name="connsiteY20" fmla="*/ 608062 h 608062"/>
                  <a:gd name="connsiteX21" fmla="*/ 279364 w 557114"/>
                  <a:gd name="connsiteY21" fmla="*/ 608062 h 608062"/>
                  <a:gd name="connsiteX22" fmla="*/ 279174 w 557114"/>
                  <a:gd name="connsiteY22" fmla="*/ 608062 h 608062"/>
                  <a:gd name="connsiteX23" fmla="*/ 278984 w 557114"/>
                  <a:gd name="connsiteY23" fmla="*/ 608062 h 608062"/>
                  <a:gd name="connsiteX24" fmla="*/ 278604 w 557114"/>
                  <a:gd name="connsiteY24" fmla="*/ 608062 h 608062"/>
                  <a:gd name="connsiteX25" fmla="*/ 278130 w 557114"/>
                  <a:gd name="connsiteY25" fmla="*/ 608062 h 608062"/>
                  <a:gd name="connsiteX26" fmla="*/ 277940 w 557114"/>
                  <a:gd name="connsiteY26" fmla="*/ 608062 h 608062"/>
                  <a:gd name="connsiteX27" fmla="*/ 277845 w 557114"/>
                  <a:gd name="connsiteY27" fmla="*/ 608062 h 608062"/>
                  <a:gd name="connsiteX28" fmla="*/ 277750 w 557114"/>
                  <a:gd name="connsiteY28" fmla="*/ 608062 h 608062"/>
                  <a:gd name="connsiteX29" fmla="*/ 277656 w 557114"/>
                  <a:gd name="connsiteY29" fmla="*/ 608062 h 608062"/>
                  <a:gd name="connsiteX30" fmla="*/ 277371 w 557114"/>
                  <a:gd name="connsiteY30" fmla="*/ 608062 h 608062"/>
                  <a:gd name="connsiteX31" fmla="*/ 0 w 557114"/>
                  <a:gd name="connsiteY31" fmla="*/ 608062 h 608062"/>
                  <a:gd name="connsiteX32" fmla="*/ 0 w 557114"/>
                  <a:gd name="connsiteY32" fmla="*/ 482224 h 608062"/>
                  <a:gd name="connsiteX33" fmla="*/ 38621 w 557114"/>
                  <a:gd name="connsiteY33" fmla="*/ 438920 h 608062"/>
                  <a:gd name="connsiteX34" fmla="*/ 173464 w 557114"/>
                  <a:gd name="connsiteY34" fmla="*/ 376569 h 608062"/>
                  <a:gd name="connsiteX35" fmla="*/ 173558 w 557114"/>
                  <a:gd name="connsiteY35" fmla="*/ 376474 h 608062"/>
                  <a:gd name="connsiteX36" fmla="*/ 180486 w 557114"/>
                  <a:gd name="connsiteY36" fmla="*/ 375337 h 608062"/>
                  <a:gd name="connsiteX37" fmla="*/ 200223 w 557114"/>
                  <a:gd name="connsiteY37" fmla="*/ 389172 h 608062"/>
                  <a:gd name="connsiteX38" fmla="*/ 255166 w 557114"/>
                  <a:gd name="connsiteY38" fmla="*/ 510272 h 608062"/>
                  <a:gd name="connsiteX39" fmla="*/ 258962 w 557114"/>
                  <a:gd name="connsiteY39" fmla="*/ 430202 h 608062"/>
                  <a:gd name="connsiteX40" fmla="*/ 232676 w 557114"/>
                  <a:gd name="connsiteY40" fmla="*/ 375432 h 608062"/>
                  <a:gd name="connsiteX41" fmla="*/ 243589 w 557114"/>
                  <a:gd name="connsiteY41" fmla="*/ 355438 h 608062"/>
                  <a:gd name="connsiteX42" fmla="*/ 276250 w 557114"/>
                  <a:gd name="connsiteY42" fmla="*/ 0 h 608062"/>
                  <a:gd name="connsiteX43" fmla="*/ 277674 w 557114"/>
                  <a:gd name="connsiteY43" fmla="*/ 0 h 608062"/>
                  <a:gd name="connsiteX44" fmla="*/ 277863 w 557114"/>
                  <a:gd name="connsiteY44" fmla="*/ 0 h 608062"/>
                  <a:gd name="connsiteX45" fmla="*/ 277958 w 557114"/>
                  <a:gd name="connsiteY45" fmla="*/ 0 h 608062"/>
                  <a:gd name="connsiteX46" fmla="*/ 279382 w 557114"/>
                  <a:gd name="connsiteY46" fmla="*/ 0 h 608062"/>
                  <a:gd name="connsiteX47" fmla="*/ 402570 w 557114"/>
                  <a:gd name="connsiteY47" fmla="*/ 104895 h 608062"/>
                  <a:gd name="connsiteX48" fmla="*/ 394693 w 557114"/>
                  <a:gd name="connsiteY48" fmla="*/ 159001 h 608062"/>
                  <a:gd name="connsiteX49" fmla="*/ 405892 w 557114"/>
                  <a:gd name="connsiteY49" fmla="*/ 184774 h 608062"/>
                  <a:gd name="connsiteX50" fmla="*/ 377040 w 557114"/>
                  <a:gd name="connsiteY50" fmla="*/ 236890 h 608062"/>
                  <a:gd name="connsiteX51" fmla="*/ 315731 w 557114"/>
                  <a:gd name="connsiteY51" fmla="*/ 311274 h 608062"/>
                  <a:gd name="connsiteX52" fmla="*/ 277958 w 557114"/>
                  <a:gd name="connsiteY52" fmla="*/ 319707 h 608062"/>
                  <a:gd name="connsiteX53" fmla="*/ 277958 w 557114"/>
                  <a:gd name="connsiteY53" fmla="*/ 319802 h 608062"/>
                  <a:gd name="connsiteX54" fmla="*/ 277863 w 557114"/>
                  <a:gd name="connsiteY54" fmla="*/ 319802 h 608062"/>
                  <a:gd name="connsiteX55" fmla="*/ 277674 w 557114"/>
                  <a:gd name="connsiteY55" fmla="*/ 319802 h 608062"/>
                  <a:gd name="connsiteX56" fmla="*/ 277674 w 557114"/>
                  <a:gd name="connsiteY56" fmla="*/ 319707 h 608062"/>
                  <a:gd name="connsiteX57" fmla="*/ 239901 w 557114"/>
                  <a:gd name="connsiteY57" fmla="*/ 311274 h 608062"/>
                  <a:gd name="connsiteX58" fmla="*/ 178592 w 557114"/>
                  <a:gd name="connsiteY58" fmla="*/ 236890 h 608062"/>
                  <a:gd name="connsiteX59" fmla="*/ 149740 w 557114"/>
                  <a:gd name="connsiteY59" fmla="*/ 184774 h 608062"/>
                  <a:gd name="connsiteX60" fmla="*/ 161034 w 557114"/>
                  <a:gd name="connsiteY60" fmla="*/ 159001 h 608062"/>
                  <a:gd name="connsiteX61" fmla="*/ 153062 w 557114"/>
                  <a:gd name="connsiteY61" fmla="*/ 104895 h 608062"/>
                  <a:gd name="connsiteX62" fmla="*/ 276250 w 557114"/>
                  <a:gd name="connsiteY62" fmla="*/ 0 h 608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557114" h="608062">
                    <a:moveTo>
                      <a:pt x="243589" y="355438"/>
                    </a:moveTo>
                    <a:lnTo>
                      <a:pt x="277656" y="355438"/>
                    </a:lnTo>
                    <a:lnTo>
                      <a:pt x="277940" y="355438"/>
                    </a:lnTo>
                    <a:lnTo>
                      <a:pt x="278604" y="355438"/>
                    </a:lnTo>
                    <a:lnTo>
                      <a:pt x="279174" y="355438"/>
                    </a:lnTo>
                    <a:lnTo>
                      <a:pt x="279458" y="355438"/>
                    </a:lnTo>
                    <a:lnTo>
                      <a:pt x="279553" y="355438"/>
                    </a:lnTo>
                    <a:lnTo>
                      <a:pt x="313620" y="355438"/>
                    </a:lnTo>
                    <a:cubicBezTo>
                      <a:pt x="325007" y="355438"/>
                      <a:pt x="330511" y="364630"/>
                      <a:pt x="324438" y="375432"/>
                    </a:cubicBezTo>
                    <a:cubicBezTo>
                      <a:pt x="321781" y="379980"/>
                      <a:pt x="298152" y="430202"/>
                      <a:pt x="298152" y="430202"/>
                    </a:cubicBezTo>
                    <a:lnTo>
                      <a:pt x="301948" y="510272"/>
                    </a:lnTo>
                    <a:cubicBezTo>
                      <a:pt x="317700" y="481655"/>
                      <a:pt x="343131" y="422432"/>
                      <a:pt x="356891" y="389172"/>
                    </a:cubicBezTo>
                    <a:cubicBezTo>
                      <a:pt x="356891" y="389172"/>
                      <a:pt x="356891" y="389172"/>
                      <a:pt x="356986" y="389172"/>
                    </a:cubicBezTo>
                    <a:cubicBezTo>
                      <a:pt x="359832" y="381117"/>
                      <a:pt x="367519" y="375337"/>
                      <a:pt x="376628" y="375337"/>
                    </a:cubicBezTo>
                    <a:cubicBezTo>
                      <a:pt x="379096" y="375337"/>
                      <a:pt x="381373" y="375716"/>
                      <a:pt x="383556" y="376474"/>
                    </a:cubicBezTo>
                    <a:cubicBezTo>
                      <a:pt x="383650" y="376474"/>
                      <a:pt x="383650" y="376474"/>
                      <a:pt x="383745" y="376569"/>
                    </a:cubicBezTo>
                    <a:cubicBezTo>
                      <a:pt x="387446" y="377706"/>
                      <a:pt x="464973" y="411724"/>
                      <a:pt x="518588" y="438920"/>
                    </a:cubicBezTo>
                    <a:cubicBezTo>
                      <a:pt x="542595" y="451049"/>
                      <a:pt x="557114" y="466305"/>
                      <a:pt x="557114" y="482224"/>
                    </a:cubicBezTo>
                    <a:lnTo>
                      <a:pt x="557114" y="608062"/>
                    </a:lnTo>
                    <a:lnTo>
                      <a:pt x="279743" y="608062"/>
                    </a:lnTo>
                    <a:lnTo>
                      <a:pt x="279458" y="608062"/>
                    </a:lnTo>
                    <a:lnTo>
                      <a:pt x="279364" y="608062"/>
                    </a:lnTo>
                    <a:lnTo>
                      <a:pt x="279174" y="608062"/>
                    </a:lnTo>
                    <a:lnTo>
                      <a:pt x="278984" y="608062"/>
                    </a:lnTo>
                    <a:lnTo>
                      <a:pt x="278604" y="608062"/>
                    </a:lnTo>
                    <a:lnTo>
                      <a:pt x="278130" y="608062"/>
                    </a:lnTo>
                    <a:lnTo>
                      <a:pt x="277940" y="608062"/>
                    </a:lnTo>
                    <a:lnTo>
                      <a:pt x="277845" y="608062"/>
                    </a:lnTo>
                    <a:lnTo>
                      <a:pt x="277750" y="608062"/>
                    </a:lnTo>
                    <a:lnTo>
                      <a:pt x="277656" y="608062"/>
                    </a:lnTo>
                    <a:lnTo>
                      <a:pt x="277371" y="608062"/>
                    </a:lnTo>
                    <a:lnTo>
                      <a:pt x="0" y="608062"/>
                    </a:lnTo>
                    <a:lnTo>
                      <a:pt x="0" y="482224"/>
                    </a:lnTo>
                    <a:cubicBezTo>
                      <a:pt x="0" y="466305"/>
                      <a:pt x="14519" y="451049"/>
                      <a:pt x="38621" y="438920"/>
                    </a:cubicBezTo>
                    <a:cubicBezTo>
                      <a:pt x="92141" y="411724"/>
                      <a:pt x="169668" y="377706"/>
                      <a:pt x="173464" y="376569"/>
                    </a:cubicBezTo>
                    <a:cubicBezTo>
                      <a:pt x="173464" y="376474"/>
                      <a:pt x="173464" y="376474"/>
                      <a:pt x="173558" y="376474"/>
                    </a:cubicBezTo>
                    <a:cubicBezTo>
                      <a:pt x="175741" y="375716"/>
                      <a:pt x="178018" y="375337"/>
                      <a:pt x="180486" y="375337"/>
                    </a:cubicBezTo>
                    <a:cubicBezTo>
                      <a:pt x="189595" y="375337"/>
                      <a:pt x="197282" y="381117"/>
                      <a:pt x="200223" y="389172"/>
                    </a:cubicBezTo>
                    <a:cubicBezTo>
                      <a:pt x="214078" y="422432"/>
                      <a:pt x="239414" y="481655"/>
                      <a:pt x="255166" y="510272"/>
                    </a:cubicBezTo>
                    <a:lnTo>
                      <a:pt x="258962" y="430202"/>
                    </a:lnTo>
                    <a:cubicBezTo>
                      <a:pt x="258962" y="430202"/>
                      <a:pt x="235333" y="379980"/>
                      <a:pt x="232676" y="375432"/>
                    </a:cubicBezTo>
                    <a:cubicBezTo>
                      <a:pt x="226603" y="364630"/>
                      <a:pt x="232107" y="355438"/>
                      <a:pt x="243589" y="355438"/>
                    </a:cubicBezTo>
                    <a:close/>
                    <a:moveTo>
                      <a:pt x="276250" y="0"/>
                    </a:moveTo>
                    <a:cubicBezTo>
                      <a:pt x="276725" y="0"/>
                      <a:pt x="277199" y="0"/>
                      <a:pt x="277674" y="0"/>
                    </a:cubicBezTo>
                    <a:cubicBezTo>
                      <a:pt x="277769" y="0"/>
                      <a:pt x="277769" y="0"/>
                      <a:pt x="277863" y="0"/>
                    </a:cubicBezTo>
                    <a:cubicBezTo>
                      <a:pt x="277863" y="0"/>
                      <a:pt x="277863" y="0"/>
                      <a:pt x="277958" y="0"/>
                    </a:cubicBezTo>
                    <a:cubicBezTo>
                      <a:pt x="278433" y="0"/>
                      <a:pt x="278907" y="0"/>
                      <a:pt x="279382" y="0"/>
                    </a:cubicBezTo>
                    <a:cubicBezTo>
                      <a:pt x="385487" y="0"/>
                      <a:pt x="405417" y="75615"/>
                      <a:pt x="402570" y="104895"/>
                    </a:cubicBezTo>
                    <a:cubicBezTo>
                      <a:pt x="400387" y="128395"/>
                      <a:pt x="394693" y="159001"/>
                      <a:pt x="394693" y="159001"/>
                    </a:cubicBezTo>
                    <a:cubicBezTo>
                      <a:pt x="394693" y="159001"/>
                      <a:pt x="405892" y="164118"/>
                      <a:pt x="405892" y="184774"/>
                    </a:cubicBezTo>
                    <a:cubicBezTo>
                      <a:pt x="402001" y="236511"/>
                      <a:pt x="381311" y="214149"/>
                      <a:pt x="377040" y="236890"/>
                    </a:cubicBezTo>
                    <a:cubicBezTo>
                      <a:pt x="370017" y="274603"/>
                      <a:pt x="336610" y="301893"/>
                      <a:pt x="315731" y="311274"/>
                    </a:cubicBezTo>
                    <a:cubicBezTo>
                      <a:pt x="303583" y="316770"/>
                      <a:pt x="291055" y="319518"/>
                      <a:pt x="277958" y="319707"/>
                    </a:cubicBezTo>
                    <a:lnTo>
                      <a:pt x="277958" y="319802"/>
                    </a:lnTo>
                    <a:cubicBezTo>
                      <a:pt x="277863" y="319802"/>
                      <a:pt x="277863" y="319802"/>
                      <a:pt x="277863" y="319802"/>
                    </a:cubicBezTo>
                    <a:cubicBezTo>
                      <a:pt x="277769" y="319802"/>
                      <a:pt x="277769" y="319802"/>
                      <a:pt x="277674" y="319802"/>
                    </a:cubicBezTo>
                    <a:lnTo>
                      <a:pt x="277674" y="319707"/>
                    </a:lnTo>
                    <a:cubicBezTo>
                      <a:pt x="264577" y="319518"/>
                      <a:pt x="252049" y="316770"/>
                      <a:pt x="239901" y="311274"/>
                    </a:cubicBezTo>
                    <a:cubicBezTo>
                      <a:pt x="219022" y="301893"/>
                      <a:pt x="185615" y="274603"/>
                      <a:pt x="178592" y="236890"/>
                    </a:cubicBezTo>
                    <a:cubicBezTo>
                      <a:pt x="174321" y="214149"/>
                      <a:pt x="153631" y="236511"/>
                      <a:pt x="149740" y="184774"/>
                    </a:cubicBezTo>
                    <a:cubicBezTo>
                      <a:pt x="149740" y="164118"/>
                      <a:pt x="161034" y="159001"/>
                      <a:pt x="161034" y="159001"/>
                    </a:cubicBezTo>
                    <a:cubicBezTo>
                      <a:pt x="161034" y="159001"/>
                      <a:pt x="155245" y="128395"/>
                      <a:pt x="153062" y="104895"/>
                    </a:cubicBezTo>
                    <a:cubicBezTo>
                      <a:pt x="150215" y="75615"/>
                      <a:pt x="170145" y="0"/>
                      <a:pt x="276250" y="0"/>
                    </a:cubicBezTo>
                    <a:close/>
                  </a:path>
                </a:pathLst>
              </a:custGeom>
              <a:solidFill>
                <a:srgbClr val="1A317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endParaRPr>
              </a:p>
            </p:txBody>
          </p:sp>
          <p:sp>
            <p:nvSpPr>
              <p:cNvPr id="142" name="椭圆 141"/>
              <p:cNvSpPr/>
              <p:nvPr/>
            </p:nvSpPr>
            <p:spPr>
              <a:xfrm>
                <a:off x="10795050" y="837908"/>
                <a:ext cx="444449" cy="457054"/>
              </a:xfrm>
              <a:prstGeom prst="ellipse">
                <a:avLst/>
              </a:prstGeom>
              <a:noFill/>
              <a:ln w="25400">
                <a:solidFill>
                  <a:srgbClr val="1A317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endParaRPr>
              </a:p>
            </p:txBody>
          </p:sp>
        </p:grpSp>
        <p:sp>
          <p:nvSpPr>
            <p:cNvPr id="144" name="文本框 143"/>
            <p:cNvSpPr txBox="1"/>
            <p:nvPr/>
          </p:nvSpPr>
          <p:spPr>
            <a:xfrm>
              <a:off x="8429625" y="915813"/>
              <a:ext cx="23209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电子科技大学</a:t>
              </a:r>
            </a:p>
          </p:txBody>
        </p:sp>
      </p:grpSp>
      <p:cxnSp>
        <p:nvCxnSpPr>
          <p:cNvPr id="146" name="直接连接符 145"/>
          <p:cNvCxnSpPr/>
          <p:nvPr/>
        </p:nvCxnSpPr>
        <p:spPr>
          <a:xfrm>
            <a:off x="1651343" y="4943475"/>
            <a:ext cx="663232" cy="0"/>
          </a:xfrm>
          <a:prstGeom prst="line">
            <a:avLst/>
          </a:prstGeom>
          <a:ln w="38100">
            <a:solidFill>
              <a:srgbClr val="FF9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1105975" y="2797398"/>
            <a:ext cx="10318067" cy="2156308"/>
            <a:chOff x="1430831" y="2358502"/>
            <a:chExt cx="10318067" cy="2156308"/>
          </a:xfrm>
        </p:grpSpPr>
        <p:sp>
          <p:nvSpPr>
            <p:cNvPr id="123" name="标题 1104"/>
            <p:cNvSpPr txBox="1"/>
            <p:nvPr/>
          </p:nvSpPr>
          <p:spPr>
            <a:xfrm>
              <a:off x="1533869" y="2891804"/>
              <a:ext cx="6188531" cy="47863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r" defTabSz="91376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1" kern="1200">
                  <a:solidFill>
                    <a:srgbClr val="08A0E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3765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430831" y="2358502"/>
              <a:ext cx="7109639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5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概率鲁棒雷达波形设计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endParaRPr>
            </a:p>
          </p:txBody>
        </p:sp>
        <p:sp>
          <p:nvSpPr>
            <p:cNvPr id="140" name="矩形 139"/>
            <p:cNvSpPr/>
            <p:nvPr/>
          </p:nvSpPr>
          <p:spPr>
            <a:xfrm>
              <a:off x="1533869" y="4126242"/>
              <a:ext cx="6281320" cy="3885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endParaRP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1430831" y="3427510"/>
              <a:ext cx="103180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面向扩展目标的检测优化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960" y="4876901"/>
            <a:ext cx="1305133" cy="1298735"/>
          </a:xfrm>
          <a:prstGeom prst="rect">
            <a:avLst/>
          </a:prstGeom>
        </p:spPr>
      </p:pic>
    </p:spTree>
  </p:cSld>
  <p:clrMapOvr>
    <a:masterClrMapping/>
  </p:clrMapOvr>
  <p:transition spd="slow" advTm="3000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67151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1512" y="0"/>
            <a:ext cx="115204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80377" y="371475"/>
            <a:ext cx="10033350" cy="6115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277005" y="5218247"/>
            <a:ext cx="5125668" cy="771282"/>
            <a:chOff x="6277005" y="5218247"/>
            <a:chExt cx="5125668" cy="771282"/>
          </a:xfrm>
        </p:grpSpPr>
        <p:sp>
          <p:nvSpPr>
            <p:cNvPr id="30" name="菱形 29"/>
            <p:cNvSpPr/>
            <p:nvPr/>
          </p:nvSpPr>
          <p:spPr bwMode="auto">
            <a:xfrm>
              <a:off x="6277005" y="5218247"/>
              <a:ext cx="771282" cy="771282"/>
            </a:xfrm>
            <a:prstGeom prst="diamond">
              <a:avLst/>
            </a:prstGeom>
            <a:solidFill>
              <a:srgbClr val="1A3172"/>
            </a:solidFill>
            <a:ln w="38100">
              <a:noFill/>
            </a:ln>
            <a:effectLst>
              <a:outerShdw blurRad="355600" dist="88900" dir="2700000" algn="tl" rotWithShape="0">
                <a:srgbClr val="1A3172">
                  <a:alpha val="27000"/>
                </a:srgb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cs typeface="+mn-ea"/>
                  <a:sym typeface="字魂59号-创粗黑" panose="00000500000000000000" pitchFamily="2" charset="-122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  <p:sp>
          <p:nvSpPr>
            <p:cNvPr id="32" name="TextBox 31"/>
            <p:cNvSpPr txBox="1"/>
            <p:nvPr/>
          </p:nvSpPr>
          <p:spPr bwMode="auto">
            <a:xfrm>
              <a:off x="7281987" y="5239828"/>
              <a:ext cx="4120686" cy="749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36000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800" spc="600" dirty="0">
                  <a:solidFill>
                    <a:srgbClr val="1A3172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仿真分析与性能总结</a:t>
              </a:r>
              <a:endParaRPr lang="en-US" altLang="zh-CN" sz="2800" spc="600" dirty="0">
                <a:solidFill>
                  <a:srgbClr val="1A3172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277005" y="1235563"/>
            <a:ext cx="5125668" cy="774220"/>
            <a:chOff x="6277005" y="1235563"/>
            <a:chExt cx="5125668" cy="774220"/>
          </a:xfrm>
        </p:grpSpPr>
        <p:sp>
          <p:nvSpPr>
            <p:cNvPr id="16" name="菱形 15"/>
            <p:cNvSpPr/>
            <p:nvPr/>
          </p:nvSpPr>
          <p:spPr bwMode="auto">
            <a:xfrm>
              <a:off x="6277005" y="1235563"/>
              <a:ext cx="771282" cy="771282"/>
            </a:xfrm>
            <a:prstGeom prst="diamond">
              <a:avLst/>
            </a:prstGeom>
            <a:solidFill>
              <a:srgbClr val="1A3172"/>
            </a:solidFill>
            <a:ln w="38100">
              <a:noFill/>
            </a:ln>
            <a:effectLst>
              <a:outerShdw blurRad="355600" dist="88900" dir="2700000" algn="tl" rotWithShape="0">
                <a:srgbClr val="1A3172">
                  <a:alpha val="27000"/>
                </a:srgb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cs typeface="+mn-ea"/>
                  <a:sym typeface="字魂59号-创粗黑" panose="000005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  <p:sp>
          <p:nvSpPr>
            <p:cNvPr id="19" name="TextBox 31"/>
            <p:cNvSpPr txBox="1"/>
            <p:nvPr/>
          </p:nvSpPr>
          <p:spPr bwMode="auto">
            <a:xfrm>
              <a:off x="7281987" y="1260082"/>
              <a:ext cx="4120686" cy="749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36000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800" spc="600" dirty="0">
                  <a:solidFill>
                    <a:srgbClr val="1A3172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研究背景与基本概念</a:t>
              </a:r>
              <a:endParaRPr lang="en-US" altLang="zh-CN" sz="2800" spc="600" dirty="0">
                <a:solidFill>
                  <a:srgbClr val="1A3172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endParaRP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7340054" y="2006845"/>
              <a:ext cx="3984488" cy="0"/>
            </a:xfrm>
            <a:prstGeom prst="line">
              <a:avLst/>
            </a:prstGeom>
            <a:ln w="6350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6277005" y="2597253"/>
            <a:ext cx="5125668" cy="964124"/>
            <a:chOff x="6277005" y="2597253"/>
            <a:chExt cx="5125668" cy="964124"/>
          </a:xfrm>
        </p:grpSpPr>
        <p:sp>
          <p:nvSpPr>
            <p:cNvPr id="22" name="菱形 21"/>
            <p:cNvSpPr/>
            <p:nvPr/>
          </p:nvSpPr>
          <p:spPr bwMode="auto">
            <a:xfrm>
              <a:off x="6277005" y="2597253"/>
              <a:ext cx="771282" cy="771282"/>
            </a:xfrm>
            <a:prstGeom prst="diamond">
              <a:avLst/>
            </a:prstGeom>
            <a:solidFill>
              <a:srgbClr val="1A3172"/>
            </a:solidFill>
            <a:ln w="38100">
              <a:noFill/>
            </a:ln>
            <a:effectLst>
              <a:outerShdw blurRad="355600" dist="88900" dir="2700000" algn="tl" rotWithShape="0">
                <a:srgbClr val="1A3172">
                  <a:alpha val="27000"/>
                </a:srgb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cs typeface="+mn-ea"/>
                  <a:sym typeface="字魂59号-创粗黑" panose="00000500000000000000" pitchFamily="2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  <p:sp>
          <p:nvSpPr>
            <p:cNvPr id="24" name="TextBox 31"/>
            <p:cNvSpPr txBox="1"/>
            <p:nvPr/>
          </p:nvSpPr>
          <p:spPr bwMode="auto">
            <a:xfrm>
              <a:off x="7281987" y="2811676"/>
              <a:ext cx="4120686" cy="749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36000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800" spc="600" dirty="0">
                  <a:solidFill>
                    <a:srgbClr val="1A3172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建模与统计特性分析</a:t>
              </a:r>
              <a:endParaRPr lang="en-US" altLang="zh-CN" sz="2800" spc="600" dirty="0">
                <a:solidFill>
                  <a:srgbClr val="1A3172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7340054" y="3368535"/>
              <a:ext cx="3984488" cy="0"/>
            </a:xfrm>
            <a:prstGeom prst="line">
              <a:avLst/>
            </a:prstGeom>
            <a:ln w="6350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6277005" y="3958943"/>
            <a:ext cx="5125668" cy="915111"/>
            <a:chOff x="6277005" y="3958943"/>
            <a:chExt cx="5125668" cy="915111"/>
          </a:xfrm>
        </p:grpSpPr>
        <p:sp>
          <p:nvSpPr>
            <p:cNvPr id="26" name="菱形 25"/>
            <p:cNvSpPr/>
            <p:nvPr/>
          </p:nvSpPr>
          <p:spPr bwMode="auto">
            <a:xfrm>
              <a:off x="6277005" y="3958943"/>
              <a:ext cx="771282" cy="771282"/>
            </a:xfrm>
            <a:prstGeom prst="diamond">
              <a:avLst/>
            </a:prstGeom>
            <a:solidFill>
              <a:srgbClr val="1A3172"/>
            </a:solidFill>
            <a:ln w="38100">
              <a:noFill/>
            </a:ln>
            <a:effectLst>
              <a:outerShdw blurRad="355600" dist="88900" dir="2700000" algn="tl" rotWithShape="0">
                <a:srgbClr val="1A3172">
                  <a:alpha val="27000"/>
                </a:srgb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cs typeface="+mn-ea"/>
                  <a:sym typeface="字魂59号-创粗黑" panose="00000500000000000000" pitchFamily="2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  <p:sp>
          <p:nvSpPr>
            <p:cNvPr id="28" name="TextBox 31"/>
            <p:cNvSpPr txBox="1"/>
            <p:nvPr/>
          </p:nvSpPr>
          <p:spPr bwMode="auto">
            <a:xfrm>
              <a:off x="7281987" y="4124353"/>
              <a:ext cx="4120686" cy="749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36000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800" spc="600" dirty="0">
                  <a:solidFill>
                    <a:srgbClr val="1A3172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PRD</a:t>
              </a:r>
              <a:r>
                <a:rPr lang="zh-CN" altLang="en-US" sz="2800" spc="600" dirty="0">
                  <a:solidFill>
                    <a:srgbClr val="1A3172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sym typeface="字魂59号-创粗黑" panose="00000500000000000000" pitchFamily="2" charset="-122"/>
                </a:rPr>
                <a:t>准则与优化算法</a:t>
              </a:r>
              <a:endParaRPr lang="en-US" altLang="zh-CN" sz="2800" spc="600" dirty="0">
                <a:solidFill>
                  <a:srgbClr val="1A3172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7350086" y="4710047"/>
              <a:ext cx="3984488" cy="0"/>
            </a:xfrm>
            <a:prstGeom prst="line">
              <a:avLst/>
            </a:prstGeom>
            <a:ln w="6350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333378" y="1405691"/>
            <a:ext cx="4216744" cy="4311372"/>
            <a:chOff x="1329535" y="2086986"/>
            <a:chExt cx="2851930" cy="2999852"/>
          </a:xfrm>
        </p:grpSpPr>
        <p:sp>
          <p:nvSpPr>
            <p:cNvPr id="9" name="矩形 8"/>
            <p:cNvSpPr/>
            <p:nvPr/>
          </p:nvSpPr>
          <p:spPr>
            <a:xfrm>
              <a:off x="1485000" y="2799000"/>
              <a:ext cx="2541000" cy="562912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cs typeface="+mn-ea"/>
                  <a:sym typeface="字魂59号-创粗黑" panose="00000500000000000000" pitchFamily="2" charset="-122"/>
                </a:rPr>
                <a:t>CONTENTS</a:t>
              </a:r>
            </a:p>
          </p:txBody>
        </p:sp>
        <p:sp>
          <p:nvSpPr>
            <p:cNvPr id="56" name="菱形 55"/>
            <p:cNvSpPr/>
            <p:nvPr/>
          </p:nvSpPr>
          <p:spPr bwMode="auto">
            <a:xfrm>
              <a:off x="1329535" y="2086986"/>
              <a:ext cx="2851930" cy="2999852"/>
            </a:xfrm>
            <a:prstGeom prst="diamond">
              <a:avLst/>
            </a:prstGeom>
            <a:solidFill>
              <a:srgbClr val="1A3172"/>
            </a:solidFill>
            <a:ln w="38100">
              <a:noFill/>
            </a:ln>
            <a:effectLst>
              <a:outerShdw blurRad="355600" dist="88900" dir="2700000" algn="tl" rotWithShape="0">
                <a:srgbClr val="1A3172">
                  <a:alpha val="27000"/>
                </a:srgb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zh-CN" altLang="en-US" sz="24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240557" y="3361912"/>
              <a:ext cx="900000" cy="450000"/>
            </a:xfrm>
            <a:prstGeom prst="rect">
              <a:avLst/>
            </a:prstGeom>
            <a:noFill/>
          </p:spPr>
          <p:txBody>
            <a:bodyPr wrap="none" rtlCol="0" anchor="ctr">
              <a:normAutofit fontScale="92500" lnSpcReduction="20000"/>
            </a:bodyPr>
            <a:lstStyle/>
            <a:p>
              <a:pPr algn="ctr"/>
              <a:r>
                <a:rPr lang="zh-CN" altLang="en-US" sz="4400" dirty="0">
                  <a:solidFill>
                    <a:schemeClr val="bg1">
                      <a:lumMod val="95000"/>
                    </a:schemeClr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cs typeface="+mn-ea"/>
                  <a:sym typeface="字魂59号-创粗黑" panose="00000500000000000000" pitchFamily="2" charset="-122"/>
                </a:rPr>
                <a:t>目录</a:t>
              </a:r>
              <a:endParaRPr lang="en-US" altLang="zh-CN" sz="4400" dirty="0">
                <a:solidFill>
                  <a:schemeClr val="bg1">
                    <a:lumMod val="9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  <p:cxnSp>
          <p:nvCxnSpPr>
            <p:cNvPr id="12" name="直接连接符 11"/>
            <p:cNvCxnSpPr>
              <a:stCxn id="10" idx="1"/>
            </p:cNvCxnSpPr>
            <p:nvPr/>
          </p:nvCxnSpPr>
          <p:spPr>
            <a:xfrm flipH="1">
              <a:off x="1655557" y="3586912"/>
              <a:ext cx="585000" cy="0"/>
            </a:xfrm>
            <a:prstGeom prst="line">
              <a:avLst/>
            </a:prstGeom>
            <a:ln w="6350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10" idx="3"/>
            </p:cNvCxnSpPr>
            <p:nvPr/>
          </p:nvCxnSpPr>
          <p:spPr>
            <a:xfrm>
              <a:off x="3140557" y="3586912"/>
              <a:ext cx="586800" cy="0"/>
            </a:xfrm>
            <a:prstGeom prst="line">
              <a:avLst/>
            </a:prstGeom>
            <a:ln w="6350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直接连接符 12"/>
          <p:cNvCxnSpPr/>
          <p:nvPr/>
        </p:nvCxnSpPr>
        <p:spPr>
          <a:xfrm flipH="1">
            <a:off x="1407501" y="568813"/>
            <a:ext cx="1034249" cy="112395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2003458" y="1034216"/>
            <a:ext cx="438292" cy="434758"/>
          </a:xfrm>
          <a:prstGeom prst="line">
            <a:avLst/>
          </a:prstGeom>
          <a:ln w="25400">
            <a:solidFill>
              <a:srgbClr val="FF9C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>
            <a:off x="2389134" y="5524259"/>
            <a:ext cx="1034249" cy="112395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H="1">
            <a:off x="2490345" y="5650502"/>
            <a:ext cx="438292" cy="434758"/>
          </a:xfrm>
          <a:prstGeom prst="line">
            <a:avLst/>
          </a:prstGeom>
          <a:ln w="25400">
            <a:solidFill>
              <a:srgbClr val="FF9C0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00D9352-DBA1-60E9-2703-FAF243E6AAAE}"/>
              </a:ext>
            </a:extLst>
          </p:cNvPr>
          <p:cNvCxnSpPr/>
          <p:nvPr/>
        </p:nvCxnSpPr>
        <p:spPr>
          <a:xfrm>
            <a:off x="7340054" y="5989529"/>
            <a:ext cx="3984488" cy="0"/>
          </a:xfrm>
          <a:prstGeom prst="line">
            <a:avLst/>
          </a:prstGeom>
          <a:ln w="6350" cap="rnd">
            <a:solidFill>
              <a:schemeClr val="tx1">
                <a:lumMod val="75000"/>
                <a:lumOff val="2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3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77419" y="598161"/>
            <a:ext cx="10825884" cy="5667826"/>
          </a:xfrm>
          <a:prstGeom prst="rect">
            <a:avLst/>
          </a:prstGeom>
          <a:blipFill dpi="0" rotWithShape="1">
            <a:blip r:embed="rId4">
              <a:alphaModFix amt="8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015410" y="1465053"/>
            <a:ext cx="2149901" cy="2149901"/>
            <a:chOff x="5015408" y="1196255"/>
            <a:chExt cx="2149901" cy="2149901"/>
          </a:xfrm>
        </p:grpSpPr>
        <p:sp>
          <p:nvSpPr>
            <p:cNvPr id="10" name="菱形 9"/>
            <p:cNvSpPr/>
            <p:nvPr/>
          </p:nvSpPr>
          <p:spPr bwMode="auto">
            <a:xfrm>
              <a:off x="5015408" y="1196255"/>
              <a:ext cx="2149901" cy="2149901"/>
            </a:xfrm>
            <a:prstGeom prst="diamond">
              <a:avLst/>
            </a:prstGeom>
            <a:solidFill>
              <a:srgbClr val="1A3172"/>
            </a:solidFill>
            <a:ln w="38100">
              <a:solidFill>
                <a:srgbClr val="1A317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503528" y="1671042"/>
              <a:ext cx="1184940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7200" b="1" spc="600" dirty="0">
                  <a:solidFill>
                    <a:schemeClr val="bg1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cs typeface="+mn-ea"/>
                  <a:sym typeface="字魂59号-创粗黑" panose="00000500000000000000" pitchFamily="2" charset="-122"/>
                </a:rPr>
                <a:t>01</a:t>
              </a:r>
              <a:endParaRPr lang="zh-CN" altLang="en-US" sz="7200" b="1" spc="6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449746" y="3734865"/>
            <a:ext cx="7281228" cy="1069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8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研究背景与基本概念</a:t>
            </a:r>
          </a:p>
        </p:txBody>
      </p:sp>
    </p:spTree>
  </p:cSld>
  <p:clrMapOvr>
    <a:masterClrMapping/>
  </p:clrMapOvr>
  <p:transition spd="slow" advTm="3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 bwMode="auto">
          <a:xfrm>
            <a:off x="3987756" y="1123950"/>
            <a:ext cx="7875507" cy="5067171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sp>
        <p:nvSpPr>
          <p:cNvPr id="4" name="trophy_159504"/>
          <p:cNvSpPr>
            <a:spLocks noChangeAspect="1"/>
          </p:cNvSpPr>
          <p:nvPr/>
        </p:nvSpPr>
        <p:spPr bwMode="auto">
          <a:xfrm>
            <a:off x="1367104" y="1539000"/>
            <a:ext cx="973589" cy="947443"/>
          </a:xfrm>
          <a:custGeom>
            <a:avLst/>
            <a:gdLst>
              <a:gd name="connsiteX0" fmla="*/ 92709 w 608527"/>
              <a:gd name="connsiteY0" fmla="*/ 383100 h 592185"/>
              <a:gd name="connsiteX1" fmla="*/ 122674 w 608527"/>
              <a:gd name="connsiteY1" fmla="*/ 392457 h 592185"/>
              <a:gd name="connsiteX2" fmla="*/ 136811 w 608527"/>
              <a:gd name="connsiteY2" fmla="*/ 395986 h 592185"/>
              <a:gd name="connsiteX3" fmla="*/ 140345 w 608527"/>
              <a:gd name="connsiteY3" fmla="*/ 410099 h 592185"/>
              <a:gd name="connsiteX4" fmla="*/ 168466 w 608527"/>
              <a:gd name="connsiteY4" fmla="*/ 460107 h 592185"/>
              <a:gd name="connsiteX5" fmla="*/ 192438 w 608527"/>
              <a:gd name="connsiteY5" fmla="*/ 466243 h 592185"/>
              <a:gd name="connsiteX6" fmla="*/ 225476 w 608527"/>
              <a:gd name="connsiteY6" fmla="*/ 459494 h 592185"/>
              <a:gd name="connsiteX7" fmla="*/ 239767 w 608527"/>
              <a:gd name="connsiteY7" fmla="*/ 455352 h 592185"/>
              <a:gd name="connsiteX8" fmla="*/ 246682 w 608527"/>
              <a:gd name="connsiteY8" fmla="*/ 462408 h 592185"/>
              <a:gd name="connsiteX9" fmla="*/ 120830 w 608527"/>
              <a:gd name="connsiteY9" fmla="*/ 588043 h 592185"/>
              <a:gd name="connsiteX10" fmla="*/ 110841 w 608527"/>
              <a:gd name="connsiteY10" fmla="*/ 592185 h 592185"/>
              <a:gd name="connsiteX11" fmla="*/ 107768 w 608527"/>
              <a:gd name="connsiteY11" fmla="*/ 591725 h 592185"/>
              <a:gd name="connsiteX12" fmla="*/ 97472 w 608527"/>
              <a:gd name="connsiteY12" fmla="*/ 582828 h 592185"/>
              <a:gd name="connsiteX13" fmla="*/ 73347 w 608527"/>
              <a:gd name="connsiteY13" fmla="*/ 516098 h 592185"/>
              <a:gd name="connsiteX14" fmla="*/ 9729 w 608527"/>
              <a:gd name="connsiteY14" fmla="*/ 494929 h 592185"/>
              <a:gd name="connsiteX15" fmla="*/ 356 w 608527"/>
              <a:gd name="connsiteY15" fmla="*/ 484805 h 592185"/>
              <a:gd name="connsiteX16" fmla="*/ 4197 w 608527"/>
              <a:gd name="connsiteY16" fmla="*/ 471459 h 592185"/>
              <a:gd name="connsiteX17" fmla="*/ 512302 w 608527"/>
              <a:gd name="connsiteY17" fmla="*/ 379571 h 592185"/>
              <a:gd name="connsiteX18" fmla="*/ 604331 w 608527"/>
              <a:gd name="connsiteY18" fmla="*/ 471458 h 592185"/>
              <a:gd name="connsiteX19" fmla="*/ 608172 w 608527"/>
              <a:gd name="connsiteY19" fmla="*/ 484804 h 592185"/>
              <a:gd name="connsiteX20" fmla="*/ 598800 w 608527"/>
              <a:gd name="connsiteY20" fmla="*/ 494929 h 592185"/>
              <a:gd name="connsiteX21" fmla="*/ 535194 w 608527"/>
              <a:gd name="connsiteY21" fmla="*/ 516098 h 592185"/>
              <a:gd name="connsiteX22" fmla="*/ 511073 w 608527"/>
              <a:gd name="connsiteY22" fmla="*/ 582828 h 592185"/>
              <a:gd name="connsiteX23" fmla="*/ 500780 w 608527"/>
              <a:gd name="connsiteY23" fmla="*/ 591725 h 592185"/>
              <a:gd name="connsiteX24" fmla="*/ 497707 w 608527"/>
              <a:gd name="connsiteY24" fmla="*/ 592185 h 592185"/>
              <a:gd name="connsiteX25" fmla="*/ 487721 w 608527"/>
              <a:gd name="connsiteY25" fmla="*/ 588043 h 592185"/>
              <a:gd name="connsiteX26" fmla="*/ 356976 w 608527"/>
              <a:gd name="connsiteY26" fmla="*/ 457499 h 592185"/>
              <a:gd name="connsiteX27" fmla="*/ 359281 w 608527"/>
              <a:gd name="connsiteY27" fmla="*/ 455351 h 592185"/>
              <a:gd name="connsiteX28" fmla="*/ 373569 w 608527"/>
              <a:gd name="connsiteY28" fmla="*/ 459493 h 592185"/>
              <a:gd name="connsiteX29" fmla="*/ 406601 w 608527"/>
              <a:gd name="connsiteY29" fmla="*/ 466243 h 592185"/>
              <a:gd name="connsiteX30" fmla="*/ 430721 w 608527"/>
              <a:gd name="connsiteY30" fmla="*/ 460107 h 592185"/>
              <a:gd name="connsiteX31" fmla="*/ 458683 w 608527"/>
              <a:gd name="connsiteY31" fmla="*/ 410098 h 592185"/>
              <a:gd name="connsiteX32" fmla="*/ 462217 w 608527"/>
              <a:gd name="connsiteY32" fmla="*/ 395985 h 592185"/>
              <a:gd name="connsiteX33" fmla="*/ 476352 w 608527"/>
              <a:gd name="connsiteY33" fmla="*/ 392457 h 592185"/>
              <a:gd name="connsiteX34" fmla="*/ 512302 w 608527"/>
              <a:gd name="connsiteY34" fmla="*/ 379571 h 592185"/>
              <a:gd name="connsiteX35" fmla="*/ 299571 w 608527"/>
              <a:gd name="connsiteY35" fmla="*/ 169992 h 592185"/>
              <a:gd name="connsiteX36" fmla="*/ 363115 w 608527"/>
              <a:gd name="connsiteY36" fmla="*/ 233431 h 592185"/>
              <a:gd name="connsiteX37" fmla="*/ 299571 w 608527"/>
              <a:gd name="connsiteY37" fmla="*/ 296870 h 592185"/>
              <a:gd name="connsiteX38" fmla="*/ 236027 w 608527"/>
              <a:gd name="connsiteY38" fmla="*/ 233431 h 592185"/>
              <a:gd name="connsiteX39" fmla="*/ 299571 w 608527"/>
              <a:gd name="connsiteY39" fmla="*/ 169992 h 592185"/>
              <a:gd name="connsiteX40" fmla="*/ 299495 w 608527"/>
              <a:gd name="connsiteY40" fmla="*/ 141609 h 592185"/>
              <a:gd name="connsiteX41" fmla="*/ 207613 w 608527"/>
              <a:gd name="connsiteY41" fmla="*/ 233507 h 592185"/>
              <a:gd name="connsiteX42" fmla="*/ 299495 w 608527"/>
              <a:gd name="connsiteY42" fmla="*/ 325251 h 592185"/>
              <a:gd name="connsiteX43" fmla="*/ 391530 w 608527"/>
              <a:gd name="connsiteY43" fmla="*/ 233507 h 592185"/>
              <a:gd name="connsiteX44" fmla="*/ 299495 w 608527"/>
              <a:gd name="connsiteY44" fmla="*/ 141609 h 592185"/>
              <a:gd name="connsiteX45" fmla="*/ 299495 w 608527"/>
              <a:gd name="connsiteY45" fmla="*/ 115374 h 592185"/>
              <a:gd name="connsiteX46" fmla="*/ 417804 w 608527"/>
              <a:gd name="connsiteY46" fmla="*/ 233507 h 592185"/>
              <a:gd name="connsiteX47" fmla="*/ 299495 w 608527"/>
              <a:gd name="connsiteY47" fmla="*/ 351486 h 592185"/>
              <a:gd name="connsiteX48" fmla="*/ 181339 w 608527"/>
              <a:gd name="connsiteY48" fmla="*/ 233507 h 592185"/>
              <a:gd name="connsiteX49" fmla="*/ 299495 w 608527"/>
              <a:gd name="connsiteY49" fmla="*/ 115374 h 592185"/>
              <a:gd name="connsiteX50" fmla="*/ 299529 w 608527"/>
              <a:gd name="connsiteY50" fmla="*/ 87143 h 592185"/>
              <a:gd name="connsiteX51" fmla="*/ 152944 w 608527"/>
              <a:gd name="connsiteY51" fmla="*/ 233507 h 592185"/>
              <a:gd name="connsiteX52" fmla="*/ 299529 w 608527"/>
              <a:gd name="connsiteY52" fmla="*/ 379871 h 592185"/>
              <a:gd name="connsiteX53" fmla="*/ 446114 w 608527"/>
              <a:gd name="connsiteY53" fmla="*/ 233507 h 592185"/>
              <a:gd name="connsiteX54" fmla="*/ 299529 w 608527"/>
              <a:gd name="connsiteY54" fmla="*/ 87143 h 592185"/>
              <a:gd name="connsiteX55" fmla="*/ 299529 w 608527"/>
              <a:gd name="connsiteY55" fmla="*/ 0 h 592185"/>
              <a:gd name="connsiteX56" fmla="*/ 351618 w 608527"/>
              <a:gd name="connsiteY56" fmla="*/ 39276 h 592185"/>
              <a:gd name="connsiteX57" fmla="*/ 357764 w 608527"/>
              <a:gd name="connsiteY57" fmla="*/ 40043 h 592185"/>
              <a:gd name="connsiteX58" fmla="*/ 406625 w 608527"/>
              <a:gd name="connsiteY58" fmla="*/ 28997 h 592185"/>
              <a:gd name="connsiteX59" fmla="*/ 416459 w 608527"/>
              <a:gd name="connsiteY59" fmla="*/ 31298 h 592185"/>
              <a:gd name="connsiteX60" fmla="*/ 441965 w 608527"/>
              <a:gd name="connsiteY60" fmla="*/ 91286 h 592185"/>
              <a:gd name="connsiteX61" fmla="*/ 502044 w 608527"/>
              <a:gd name="connsiteY61" fmla="*/ 116754 h 592185"/>
              <a:gd name="connsiteX62" fmla="*/ 494054 w 608527"/>
              <a:gd name="connsiteY62" fmla="*/ 181344 h 592185"/>
              <a:gd name="connsiteX63" fmla="*/ 533389 w 608527"/>
              <a:gd name="connsiteY63" fmla="*/ 233507 h 592185"/>
              <a:gd name="connsiteX64" fmla="*/ 494054 w 608527"/>
              <a:gd name="connsiteY64" fmla="*/ 285517 h 592185"/>
              <a:gd name="connsiteX65" fmla="*/ 502044 w 608527"/>
              <a:gd name="connsiteY65" fmla="*/ 350261 h 592185"/>
              <a:gd name="connsiteX66" fmla="*/ 441965 w 608527"/>
              <a:gd name="connsiteY66" fmla="*/ 375575 h 592185"/>
              <a:gd name="connsiteX67" fmla="*/ 416459 w 608527"/>
              <a:gd name="connsiteY67" fmla="*/ 435563 h 592185"/>
              <a:gd name="connsiteX68" fmla="*/ 406625 w 608527"/>
              <a:gd name="connsiteY68" fmla="*/ 438018 h 592185"/>
              <a:gd name="connsiteX69" fmla="*/ 357764 w 608527"/>
              <a:gd name="connsiteY69" fmla="*/ 426971 h 592185"/>
              <a:gd name="connsiteX70" fmla="*/ 351618 w 608527"/>
              <a:gd name="connsiteY70" fmla="*/ 427585 h 592185"/>
              <a:gd name="connsiteX71" fmla="*/ 299529 w 608527"/>
              <a:gd name="connsiteY71" fmla="*/ 466861 h 592185"/>
              <a:gd name="connsiteX72" fmla="*/ 247441 w 608527"/>
              <a:gd name="connsiteY72" fmla="*/ 427585 h 592185"/>
              <a:gd name="connsiteX73" fmla="*/ 241448 w 608527"/>
              <a:gd name="connsiteY73" fmla="*/ 426971 h 592185"/>
              <a:gd name="connsiteX74" fmla="*/ 192433 w 608527"/>
              <a:gd name="connsiteY74" fmla="*/ 438018 h 592185"/>
              <a:gd name="connsiteX75" fmla="*/ 182599 w 608527"/>
              <a:gd name="connsiteY75" fmla="*/ 435563 h 592185"/>
              <a:gd name="connsiteX76" fmla="*/ 157247 w 608527"/>
              <a:gd name="connsiteY76" fmla="*/ 375575 h 592185"/>
              <a:gd name="connsiteX77" fmla="*/ 97168 w 608527"/>
              <a:gd name="connsiteY77" fmla="*/ 350107 h 592185"/>
              <a:gd name="connsiteX78" fmla="*/ 105005 w 608527"/>
              <a:gd name="connsiteY78" fmla="*/ 285517 h 592185"/>
              <a:gd name="connsiteX79" fmla="*/ 65823 w 608527"/>
              <a:gd name="connsiteY79" fmla="*/ 233507 h 592185"/>
              <a:gd name="connsiteX80" fmla="*/ 105005 w 608527"/>
              <a:gd name="connsiteY80" fmla="*/ 181344 h 592185"/>
              <a:gd name="connsiteX81" fmla="*/ 97168 w 608527"/>
              <a:gd name="connsiteY81" fmla="*/ 116754 h 592185"/>
              <a:gd name="connsiteX82" fmla="*/ 157247 w 608527"/>
              <a:gd name="connsiteY82" fmla="*/ 91286 h 592185"/>
              <a:gd name="connsiteX83" fmla="*/ 182599 w 608527"/>
              <a:gd name="connsiteY83" fmla="*/ 31298 h 592185"/>
              <a:gd name="connsiteX84" fmla="*/ 192433 w 608527"/>
              <a:gd name="connsiteY84" fmla="*/ 28997 h 592185"/>
              <a:gd name="connsiteX85" fmla="*/ 241448 w 608527"/>
              <a:gd name="connsiteY85" fmla="*/ 40043 h 592185"/>
              <a:gd name="connsiteX86" fmla="*/ 247441 w 608527"/>
              <a:gd name="connsiteY86" fmla="*/ 39276 h 592185"/>
              <a:gd name="connsiteX87" fmla="*/ 299529 w 608527"/>
              <a:gd name="connsiteY87" fmla="*/ 0 h 592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608527" h="592185">
                <a:moveTo>
                  <a:pt x="92709" y="383100"/>
                </a:moveTo>
                <a:cubicBezTo>
                  <a:pt x="102697" y="388162"/>
                  <a:pt x="113607" y="390463"/>
                  <a:pt x="122674" y="392457"/>
                </a:cubicBezTo>
                <a:cubicBezTo>
                  <a:pt x="127130" y="393378"/>
                  <a:pt x="133584" y="394758"/>
                  <a:pt x="136811" y="395986"/>
                </a:cubicBezTo>
                <a:cubicBezTo>
                  <a:pt x="138040" y="399207"/>
                  <a:pt x="139423" y="405650"/>
                  <a:pt x="140345" y="410099"/>
                </a:cubicBezTo>
                <a:cubicBezTo>
                  <a:pt x="143880" y="426359"/>
                  <a:pt x="148643" y="448755"/>
                  <a:pt x="168466" y="460107"/>
                </a:cubicBezTo>
                <a:cubicBezTo>
                  <a:pt x="175535" y="464249"/>
                  <a:pt x="183525" y="466243"/>
                  <a:pt x="192438" y="466243"/>
                </a:cubicBezTo>
                <a:cubicBezTo>
                  <a:pt x="204270" y="466243"/>
                  <a:pt x="215488" y="462715"/>
                  <a:pt x="225476" y="459494"/>
                </a:cubicBezTo>
                <a:cubicBezTo>
                  <a:pt x="230086" y="457960"/>
                  <a:pt x="236233" y="455965"/>
                  <a:pt x="239767" y="455352"/>
                </a:cubicBezTo>
                <a:cubicBezTo>
                  <a:pt x="241765" y="457039"/>
                  <a:pt x="244377" y="459800"/>
                  <a:pt x="246682" y="462408"/>
                </a:cubicBezTo>
                <a:lnTo>
                  <a:pt x="120830" y="588043"/>
                </a:lnTo>
                <a:cubicBezTo>
                  <a:pt x="118217" y="590651"/>
                  <a:pt x="114529" y="592185"/>
                  <a:pt x="110841" y="592185"/>
                </a:cubicBezTo>
                <a:cubicBezTo>
                  <a:pt x="109766" y="592185"/>
                  <a:pt x="108844" y="592032"/>
                  <a:pt x="107768" y="591725"/>
                </a:cubicBezTo>
                <a:cubicBezTo>
                  <a:pt x="103004" y="590804"/>
                  <a:pt x="99163" y="587276"/>
                  <a:pt x="97472" y="582828"/>
                </a:cubicBezTo>
                <a:lnTo>
                  <a:pt x="73347" y="516098"/>
                </a:lnTo>
                <a:lnTo>
                  <a:pt x="9729" y="494929"/>
                </a:lnTo>
                <a:cubicBezTo>
                  <a:pt x="5119" y="493395"/>
                  <a:pt x="1585" y="489560"/>
                  <a:pt x="356" y="484805"/>
                </a:cubicBezTo>
                <a:cubicBezTo>
                  <a:pt x="-720" y="480049"/>
                  <a:pt x="663" y="474987"/>
                  <a:pt x="4197" y="471459"/>
                </a:cubicBezTo>
                <a:close/>
                <a:moveTo>
                  <a:pt x="512302" y="379571"/>
                </a:moveTo>
                <a:lnTo>
                  <a:pt x="604331" y="471458"/>
                </a:lnTo>
                <a:cubicBezTo>
                  <a:pt x="607864" y="474987"/>
                  <a:pt x="609247" y="480049"/>
                  <a:pt x="608172" y="484804"/>
                </a:cubicBezTo>
                <a:cubicBezTo>
                  <a:pt x="606942" y="489560"/>
                  <a:pt x="603409" y="493395"/>
                  <a:pt x="598800" y="494929"/>
                </a:cubicBezTo>
                <a:lnTo>
                  <a:pt x="535194" y="516098"/>
                </a:lnTo>
                <a:lnTo>
                  <a:pt x="511073" y="582828"/>
                </a:lnTo>
                <a:cubicBezTo>
                  <a:pt x="509383" y="587276"/>
                  <a:pt x="505542" y="590804"/>
                  <a:pt x="500780" y="591725"/>
                </a:cubicBezTo>
                <a:cubicBezTo>
                  <a:pt x="499704" y="592032"/>
                  <a:pt x="498782" y="592185"/>
                  <a:pt x="497707" y="592185"/>
                </a:cubicBezTo>
                <a:cubicBezTo>
                  <a:pt x="494020" y="592185"/>
                  <a:pt x="490332" y="590651"/>
                  <a:pt x="487721" y="588043"/>
                </a:cubicBezTo>
                <a:lnTo>
                  <a:pt x="356976" y="457499"/>
                </a:lnTo>
                <a:cubicBezTo>
                  <a:pt x="357898" y="456732"/>
                  <a:pt x="358666" y="455965"/>
                  <a:pt x="359281" y="455351"/>
                </a:cubicBezTo>
                <a:cubicBezTo>
                  <a:pt x="362814" y="455965"/>
                  <a:pt x="368960" y="457959"/>
                  <a:pt x="373569" y="459493"/>
                </a:cubicBezTo>
                <a:cubicBezTo>
                  <a:pt x="383555" y="462714"/>
                  <a:pt x="394924" y="466243"/>
                  <a:pt x="406601" y="466243"/>
                </a:cubicBezTo>
                <a:cubicBezTo>
                  <a:pt x="415511" y="466243"/>
                  <a:pt x="423654" y="464248"/>
                  <a:pt x="430721" y="460107"/>
                </a:cubicBezTo>
                <a:cubicBezTo>
                  <a:pt x="450541" y="448755"/>
                  <a:pt x="455303" y="426358"/>
                  <a:pt x="458683" y="410098"/>
                </a:cubicBezTo>
                <a:cubicBezTo>
                  <a:pt x="459605" y="405649"/>
                  <a:pt x="460988" y="399206"/>
                  <a:pt x="462217" y="395985"/>
                </a:cubicBezTo>
                <a:cubicBezTo>
                  <a:pt x="465597" y="394758"/>
                  <a:pt x="471896" y="393377"/>
                  <a:pt x="476352" y="392457"/>
                </a:cubicBezTo>
                <a:cubicBezTo>
                  <a:pt x="487260" y="390156"/>
                  <a:pt x="500933" y="387088"/>
                  <a:pt x="512302" y="379571"/>
                </a:cubicBezTo>
                <a:close/>
                <a:moveTo>
                  <a:pt x="299571" y="169992"/>
                </a:moveTo>
                <a:cubicBezTo>
                  <a:pt x="334665" y="169992"/>
                  <a:pt x="363115" y="198395"/>
                  <a:pt x="363115" y="233431"/>
                </a:cubicBezTo>
                <a:cubicBezTo>
                  <a:pt x="363115" y="268467"/>
                  <a:pt x="334665" y="296870"/>
                  <a:pt x="299571" y="296870"/>
                </a:cubicBezTo>
                <a:cubicBezTo>
                  <a:pt x="264477" y="296870"/>
                  <a:pt x="236027" y="268467"/>
                  <a:pt x="236027" y="233431"/>
                </a:cubicBezTo>
                <a:cubicBezTo>
                  <a:pt x="236027" y="198395"/>
                  <a:pt x="264477" y="169992"/>
                  <a:pt x="299571" y="169992"/>
                </a:cubicBezTo>
                <a:close/>
                <a:moveTo>
                  <a:pt x="299495" y="141609"/>
                </a:moveTo>
                <a:cubicBezTo>
                  <a:pt x="248791" y="141609"/>
                  <a:pt x="207613" y="182878"/>
                  <a:pt x="207613" y="233507"/>
                </a:cubicBezTo>
                <a:cubicBezTo>
                  <a:pt x="207613" y="284135"/>
                  <a:pt x="248791" y="325251"/>
                  <a:pt x="299495" y="325251"/>
                </a:cubicBezTo>
                <a:cubicBezTo>
                  <a:pt x="350199" y="325251"/>
                  <a:pt x="391530" y="284135"/>
                  <a:pt x="391530" y="233507"/>
                </a:cubicBezTo>
                <a:cubicBezTo>
                  <a:pt x="391530" y="182878"/>
                  <a:pt x="350199" y="141609"/>
                  <a:pt x="299495" y="141609"/>
                </a:cubicBezTo>
                <a:close/>
                <a:moveTo>
                  <a:pt x="299495" y="115374"/>
                </a:moveTo>
                <a:cubicBezTo>
                  <a:pt x="364642" y="115374"/>
                  <a:pt x="417804" y="168304"/>
                  <a:pt x="417804" y="233507"/>
                </a:cubicBezTo>
                <a:cubicBezTo>
                  <a:pt x="417804" y="298556"/>
                  <a:pt x="364642" y="351486"/>
                  <a:pt x="299495" y="351486"/>
                </a:cubicBezTo>
                <a:cubicBezTo>
                  <a:pt x="234348" y="351486"/>
                  <a:pt x="181339" y="298556"/>
                  <a:pt x="181339" y="233507"/>
                </a:cubicBezTo>
                <a:cubicBezTo>
                  <a:pt x="181339" y="168304"/>
                  <a:pt x="234348" y="115374"/>
                  <a:pt x="299495" y="115374"/>
                </a:cubicBezTo>
                <a:close/>
                <a:moveTo>
                  <a:pt x="299529" y="87143"/>
                </a:moveTo>
                <a:cubicBezTo>
                  <a:pt x="218708" y="87143"/>
                  <a:pt x="152944" y="152808"/>
                  <a:pt x="152944" y="233507"/>
                </a:cubicBezTo>
                <a:cubicBezTo>
                  <a:pt x="152944" y="314207"/>
                  <a:pt x="218708" y="379871"/>
                  <a:pt x="299529" y="379871"/>
                </a:cubicBezTo>
                <a:cubicBezTo>
                  <a:pt x="380351" y="379871"/>
                  <a:pt x="446114" y="314207"/>
                  <a:pt x="446114" y="233507"/>
                </a:cubicBezTo>
                <a:cubicBezTo>
                  <a:pt x="446114" y="152808"/>
                  <a:pt x="380351" y="87143"/>
                  <a:pt x="299529" y="87143"/>
                </a:cubicBezTo>
                <a:close/>
                <a:moveTo>
                  <a:pt x="299529" y="0"/>
                </a:moveTo>
                <a:cubicBezTo>
                  <a:pt x="319043" y="0"/>
                  <a:pt x="333794" y="34520"/>
                  <a:pt x="351618" y="39276"/>
                </a:cubicBezTo>
                <a:cubicBezTo>
                  <a:pt x="353615" y="39736"/>
                  <a:pt x="355612" y="40043"/>
                  <a:pt x="357764" y="40043"/>
                </a:cubicBezTo>
                <a:cubicBezTo>
                  <a:pt x="372514" y="40043"/>
                  <a:pt x="392028" y="28997"/>
                  <a:pt x="406625" y="28997"/>
                </a:cubicBezTo>
                <a:cubicBezTo>
                  <a:pt x="410313" y="28997"/>
                  <a:pt x="413540" y="29610"/>
                  <a:pt x="416459" y="31298"/>
                </a:cubicBezTo>
                <a:cubicBezTo>
                  <a:pt x="432900" y="40810"/>
                  <a:pt x="428444" y="77938"/>
                  <a:pt x="441965" y="91286"/>
                </a:cubicBezTo>
                <a:cubicBezTo>
                  <a:pt x="455333" y="104633"/>
                  <a:pt x="492517" y="100184"/>
                  <a:pt x="502044" y="116754"/>
                </a:cubicBezTo>
                <a:cubicBezTo>
                  <a:pt x="511417" y="133016"/>
                  <a:pt x="489137" y="162780"/>
                  <a:pt x="494054" y="181344"/>
                </a:cubicBezTo>
                <a:cubicBezTo>
                  <a:pt x="498817" y="199294"/>
                  <a:pt x="533389" y="214023"/>
                  <a:pt x="533389" y="233507"/>
                </a:cubicBezTo>
                <a:cubicBezTo>
                  <a:pt x="533389" y="252838"/>
                  <a:pt x="498817" y="267567"/>
                  <a:pt x="494054" y="285517"/>
                </a:cubicBezTo>
                <a:cubicBezTo>
                  <a:pt x="489137" y="304081"/>
                  <a:pt x="511417" y="333998"/>
                  <a:pt x="502044" y="350261"/>
                </a:cubicBezTo>
                <a:cubicBezTo>
                  <a:pt x="492517" y="366677"/>
                  <a:pt x="455333" y="362228"/>
                  <a:pt x="441965" y="375575"/>
                </a:cubicBezTo>
                <a:cubicBezTo>
                  <a:pt x="428444" y="388923"/>
                  <a:pt x="432900" y="426051"/>
                  <a:pt x="416459" y="435563"/>
                </a:cubicBezTo>
                <a:cubicBezTo>
                  <a:pt x="413540" y="437251"/>
                  <a:pt x="410313" y="438018"/>
                  <a:pt x="406625" y="438018"/>
                </a:cubicBezTo>
                <a:cubicBezTo>
                  <a:pt x="392028" y="438018"/>
                  <a:pt x="372514" y="426971"/>
                  <a:pt x="357764" y="426971"/>
                </a:cubicBezTo>
                <a:cubicBezTo>
                  <a:pt x="355612" y="426971"/>
                  <a:pt x="353615" y="427125"/>
                  <a:pt x="351618" y="427585"/>
                </a:cubicBezTo>
                <a:cubicBezTo>
                  <a:pt x="333794" y="432495"/>
                  <a:pt x="319043" y="466861"/>
                  <a:pt x="299529" y="466861"/>
                </a:cubicBezTo>
                <a:cubicBezTo>
                  <a:pt x="280015" y="466861"/>
                  <a:pt x="265418" y="432495"/>
                  <a:pt x="247441" y="427585"/>
                </a:cubicBezTo>
                <a:cubicBezTo>
                  <a:pt x="245597" y="427125"/>
                  <a:pt x="243446" y="426971"/>
                  <a:pt x="241448" y="426971"/>
                </a:cubicBezTo>
                <a:cubicBezTo>
                  <a:pt x="226544" y="426971"/>
                  <a:pt x="207184" y="438018"/>
                  <a:pt x="192433" y="438018"/>
                </a:cubicBezTo>
                <a:cubicBezTo>
                  <a:pt x="188899" y="438018"/>
                  <a:pt x="185519" y="437251"/>
                  <a:pt x="182599" y="435563"/>
                </a:cubicBezTo>
                <a:cubicBezTo>
                  <a:pt x="166158" y="426051"/>
                  <a:pt x="170614" y="388923"/>
                  <a:pt x="157247" y="375575"/>
                </a:cubicBezTo>
                <a:cubicBezTo>
                  <a:pt x="143879" y="362228"/>
                  <a:pt x="106695" y="366677"/>
                  <a:pt x="97168" y="350107"/>
                </a:cubicBezTo>
                <a:cubicBezTo>
                  <a:pt x="87642" y="333998"/>
                  <a:pt x="110075" y="304081"/>
                  <a:pt x="105005" y="285517"/>
                </a:cubicBezTo>
                <a:cubicBezTo>
                  <a:pt x="100241" y="267567"/>
                  <a:pt x="65823" y="252838"/>
                  <a:pt x="65823" y="233507"/>
                </a:cubicBezTo>
                <a:cubicBezTo>
                  <a:pt x="65823" y="214023"/>
                  <a:pt x="100241" y="199294"/>
                  <a:pt x="105005" y="181344"/>
                </a:cubicBezTo>
                <a:cubicBezTo>
                  <a:pt x="110075" y="162780"/>
                  <a:pt x="87642" y="133016"/>
                  <a:pt x="97168" y="116754"/>
                </a:cubicBezTo>
                <a:cubicBezTo>
                  <a:pt x="106695" y="100184"/>
                  <a:pt x="143879" y="104633"/>
                  <a:pt x="157247" y="91286"/>
                </a:cubicBezTo>
                <a:cubicBezTo>
                  <a:pt x="170614" y="77938"/>
                  <a:pt x="166158" y="40810"/>
                  <a:pt x="182599" y="31298"/>
                </a:cubicBezTo>
                <a:cubicBezTo>
                  <a:pt x="185519" y="29610"/>
                  <a:pt x="188899" y="28997"/>
                  <a:pt x="192433" y="28997"/>
                </a:cubicBezTo>
                <a:cubicBezTo>
                  <a:pt x="207184" y="28997"/>
                  <a:pt x="226544" y="40043"/>
                  <a:pt x="241448" y="40043"/>
                </a:cubicBezTo>
                <a:cubicBezTo>
                  <a:pt x="243599" y="40043"/>
                  <a:pt x="245597" y="39736"/>
                  <a:pt x="247441" y="39276"/>
                </a:cubicBezTo>
                <a:cubicBezTo>
                  <a:pt x="265418" y="34520"/>
                  <a:pt x="280169" y="0"/>
                  <a:pt x="299529" y="0"/>
                </a:cubicBezTo>
                <a:close/>
              </a:path>
            </a:pathLst>
          </a:custGeom>
          <a:solidFill>
            <a:srgbClr val="1A3172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1217846" y="2619000"/>
            <a:ext cx="1272103" cy="408623"/>
          </a:xfrm>
          <a:prstGeom prst="roundRect">
            <a:avLst>
              <a:gd name="adj" fmla="val 9674"/>
            </a:avLst>
          </a:prstGeom>
          <a:solidFill>
            <a:schemeClr val="bg1">
              <a:lumMod val="75000"/>
            </a:schemeClr>
          </a:solidFill>
        </p:spPr>
        <p:txBody>
          <a:bodyPr wrap="none">
            <a:norm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研究背景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3036000" y="1123950"/>
            <a:ext cx="0" cy="230505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 bwMode="auto">
          <a:xfrm>
            <a:off x="3619548" y="1336146"/>
            <a:ext cx="316452" cy="316450"/>
          </a:xfrm>
          <a:prstGeom prst="ellipse">
            <a:avLst/>
          </a:prstGeom>
          <a:solidFill>
            <a:srgbClr val="1A3172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936001" y="1123950"/>
            <a:ext cx="7584484" cy="74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227965" algn="l"/>
              </a:tabLst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点目标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227965" algn="l"/>
              </a:tabLst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占据一个距离单元，回波是发射波形的简单缩放。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071000" y="1873548"/>
            <a:ext cx="744948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 bwMode="auto">
          <a:xfrm>
            <a:off x="3619548" y="2094503"/>
            <a:ext cx="316452" cy="316450"/>
          </a:xfrm>
          <a:prstGeom prst="ellipse">
            <a:avLst/>
          </a:prstGeom>
          <a:solidFill>
            <a:srgbClr val="1A3172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3936001" y="1882307"/>
            <a:ext cx="7584484" cy="74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227965" algn="l"/>
              </a:tabLst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扩展目标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.</a:t>
            </a: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227965" algn="l"/>
              </a:tabLst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占据多个距离单元，回波是发射波形与目标冲激响应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(TIR)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的卷积</a:t>
            </a:r>
            <a:r>
              <a:rPr lang="zh-CN" altLang="en-US" sz="1200" dirty="0">
                <a:solidFill>
                  <a:srgbClr val="000000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4071000" y="2631905"/>
            <a:ext cx="744948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 bwMode="auto">
          <a:xfrm>
            <a:off x="3619548" y="2852860"/>
            <a:ext cx="316452" cy="316450"/>
          </a:xfrm>
          <a:prstGeom prst="ellipse">
            <a:avLst/>
          </a:prstGeom>
          <a:solidFill>
            <a:srgbClr val="1A3172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/>
            </p:nvSpPr>
            <p:spPr bwMode="auto">
              <a:xfrm>
                <a:off x="3936001" y="2640664"/>
                <a:ext cx="7584484" cy="740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marR="0" lvl="0" indent="-17145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9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字魂59号-创粗黑" panose="00000500000000000000" pitchFamily="2" charset="-122"/>
                    <a:ea typeface="字魂59号-创粗黑" panose="00000500000000000000" pitchFamily="2" charset="-122"/>
                    <a:cs typeface="+mn-ea"/>
                    <a:sym typeface="字魂59号-创粗黑" panose="00000500000000000000" pitchFamily="2" charset="-122"/>
                  </a:rPr>
                  <a:t>TIR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字魂59号-创粗黑" panose="00000500000000000000" pitchFamily="2" charset="-122"/>
                    <a:ea typeface="字魂59号-创粗黑" panose="00000500000000000000" pitchFamily="2" charset="-122"/>
                    <a:cs typeface="+mn-ea"/>
                    <a:sym typeface="字魂59号-创粗黑" panose="00000500000000000000" pitchFamily="2" charset="-122"/>
                  </a:rPr>
                  <a:t>的不确定性与闪烁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字魂59号-创粗黑" panose="00000500000000000000" pitchFamily="2" charset="-122"/>
                  <a:ea typeface="字魂59号-创粗黑" panose="00000500000000000000" pitchFamily="2" charset="-122"/>
                  <a:cs typeface="+mn-ea"/>
                  <a:sym typeface="字魂59号-创粗黑" panose="00000500000000000000" pitchFamily="2" charset="-122"/>
                </a:endParaRPr>
              </a:p>
              <a:p>
                <a:pPr marL="171450" lvl="0" indent="-171450">
                  <a:lnSpc>
                    <a:spcPct val="150000"/>
                  </a:lnSpc>
                  <a:buFont typeface="Arial" panose="020B060402020209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字魂59号-创粗黑" panose="00000500000000000000" pitchFamily="2" charset="-122"/>
                    <a:ea typeface="字魂59号-创粗黑" panose="00000500000000000000" pitchFamily="2" charset="-122"/>
                    <a:cs typeface="+mn-ea"/>
                    <a:sym typeface="字魂59号-创粗黑" panose="00000500000000000000" pitchFamily="2" charset="-122"/>
                  </a:rPr>
                  <a:t>在实际检测前，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字魂59号-创粗黑" panose="00000500000000000000" pitchFamily="2" charset="-122"/>
                    <a:ea typeface="字魂59号-创粗黑" panose="00000500000000000000" pitchFamily="2" charset="-122"/>
                    <a:cs typeface="+mn-ea"/>
                    <a:sym typeface="字魂59号-创粗黑" panose="00000500000000000000" pitchFamily="2" charset="-122"/>
                  </a:rPr>
                  <a:t>TIR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字魂59号-创粗黑" panose="00000500000000000000" pitchFamily="2" charset="-122"/>
                    <a:ea typeface="字魂59号-创粗黑" panose="00000500000000000000" pitchFamily="2" charset="-122"/>
                    <a:cs typeface="+mn-ea"/>
                    <a:sym typeface="字魂59号-创粗黑" panose="00000500000000000000" pitchFamily="2" charset="-122"/>
                  </a:rPr>
                  <a:t>是不可知的随机变量，通常建模为</a:t>
                </a:r>
                <a14:m>
                  <m:oMath xmlns:m="http://schemas.openxmlformats.org/officeDocument/2006/math">
                    <m:r>
                      <a:rPr lang="zh-CN" altLang="ar-AE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altLang="zh-CN" sz="1200">
                        <a:latin typeface="Cambria Math" panose="02040503050406030204" pitchFamily="18" charset="0"/>
                      </a:rPr>
                      <m:t>∼</m:t>
                    </m:r>
                    <m:r>
                      <a:rPr lang="zh-CN" altLang="ar-AE" sz="1200">
                        <a:latin typeface="Cambria Math" panose="02040503050406030204" pitchFamily="18" charset="0"/>
                      </a:rPr>
                      <m:t>𝒞𝒩</m:t>
                    </m:r>
                    <m:d>
                      <m:dPr>
                        <m:sepChr m:val=","/>
                        <m:ctrlPr>
                          <a:rPr lang="ar-AE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 altLang="zh-CN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zh-CN" altLang="en-US" sz="12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字魂59号-创粗黑" panose="00000500000000000000" pitchFamily="2" charset="-122"/>
                  <a:ea typeface="字魂59号-创粗黑" panose="00000500000000000000" pitchFamily="2" charset="-122"/>
                  <a:cs typeface="+mn-ea"/>
                  <a:sym typeface="字魂59号-创粗黑" panose="00000500000000000000" pitchFamily="2" charset="-122"/>
                </a:endParaRPr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6001" y="2640664"/>
                <a:ext cx="7584484" cy="7408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连接符 23"/>
          <p:cNvCxnSpPr/>
          <p:nvPr/>
        </p:nvCxnSpPr>
        <p:spPr>
          <a:xfrm>
            <a:off x="4071000" y="3390262"/>
            <a:ext cx="744948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rophy_159504"/>
          <p:cNvSpPr>
            <a:spLocks noChangeAspect="1"/>
          </p:cNvSpPr>
          <p:nvPr/>
        </p:nvSpPr>
        <p:spPr bwMode="auto">
          <a:xfrm>
            <a:off x="1480876" y="4288048"/>
            <a:ext cx="746045" cy="973589"/>
          </a:xfrm>
          <a:custGeom>
            <a:avLst/>
            <a:gdLst>
              <a:gd name="connsiteX0" fmla="*/ 454392 w 463299"/>
              <a:gd name="connsiteY0" fmla="*/ 223559 h 604605"/>
              <a:gd name="connsiteX1" fmla="*/ 463228 w 463299"/>
              <a:gd name="connsiteY1" fmla="*/ 245267 h 604605"/>
              <a:gd name="connsiteX2" fmla="*/ 451811 w 463299"/>
              <a:gd name="connsiteY2" fmla="*/ 388606 h 604605"/>
              <a:gd name="connsiteX3" fmla="*/ 450421 w 463299"/>
              <a:gd name="connsiteY3" fmla="*/ 403376 h 604605"/>
              <a:gd name="connsiteX4" fmla="*/ 441188 w 463299"/>
              <a:gd name="connsiteY4" fmla="*/ 448182 h 604605"/>
              <a:gd name="connsiteX5" fmla="*/ 431657 w 463299"/>
              <a:gd name="connsiteY5" fmla="*/ 462555 h 604605"/>
              <a:gd name="connsiteX6" fmla="*/ 386287 w 463299"/>
              <a:gd name="connsiteY6" fmla="*/ 510731 h 604605"/>
              <a:gd name="connsiteX7" fmla="*/ 339725 w 463299"/>
              <a:gd name="connsiteY7" fmla="*/ 560196 h 604605"/>
              <a:gd name="connsiteX8" fmla="*/ 324535 w 463299"/>
              <a:gd name="connsiteY8" fmla="*/ 583094 h 604605"/>
              <a:gd name="connsiteX9" fmla="*/ 315302 w 463299"/>
              <a:gd name="connsiteY9" fmla="*/ 604605 h 604605"/>
              <a:gd name="connsiteX10" fmla="*/ 245410 w 463299"/>
              <a:gd name="connsiteY10" fmla="*/ 604605 h 604605"/>
              <a:gd name="connsiteX11" fmla="*/ 246502 w 463299"/>
              <a:gd name="connsiteY11" fmla="*/ 601036 h 604605"/>
              <a:gd name="connsiteX12" fmla="*/ 274697 w 463299"/>
              <a:gd name="connsiteY12" fmla="*/ 520347 h 604605"/>
              <a:gd name="connsiteX13" fmla="*/ 281647 w 463299"/>
              <a:gd name="connsiteY13" fmla="*/ 505180 h 604605"/>
              <a:gd name="connsiteX14" fmla="*/ 343200 w 463299"/>
              <a:gd name="connsiteY14" fmla="*/ 431033 h 604605"/>
              <a:gd name="connsiteX15" fmla="*/ 365736 w 463299"/>
              <a:gd name="connsiteY15" fmla="*/ 406350 h 604605"/>
              <a:gd name="connsiteX16" fmla="*/ 399193 w 463299"/>
              <a:gd name="connsiteY16" fmla="*/ 372151 h 604605"/>
              <a:gd name="connsiteX17" fmla="*/ 417957 w 463299"/>
              <a:gd name="connsiteY17" fmla="*/ 371754 h 604605"/>
              <a:gd name="connsiteX18" fmla="*/ 411404 w 463299"/>
              <a:gd name="connsiteY18" fmla="*/ 413685 h 604605"/>
              <a:gd name="connsiteX19" fmla="*/ 380926 w 463299"/>
              <a:gd name="connsiteY19" fmla="*/ 464240 h 604605"/>
              <a:gd name="connsiteX20" fmla="*/ 375167 w 463299"/>
              <a:gd name="connsiteY20" fmla="*/ 473162 h 604605"/>
              <a:gd name="connsiteX21" fmla="*/ 420637 w 463299"/>
              <a:gd name="connsiteY21" fmla="*/ 411703 h 604605"/>
              <a:gd name="connsiteX22" fmla="*/ 426792 w 463299"/>
              <a:gd name="connsiteY22" fmla="*/ 366401 h 604605"/>
              <a:gd name="connsiteX23" fmla="*/ 401079 w 463299"/>
              <a:gd name="connsiteY23" fmla="*/ 362337 h 604605"/>
              <a:gd name="connsiteX24" fmla="*/ 399292 w 463299"/>
              <a:gd name="connsiteY24" fmla="*/ 362734 h 604605"/>
              <a:gd name="connsiteX25" fmla="*/ 399689 w 463299"/>
              <a:gd name="connsiteY25" fmla="*/ 361049 h 604605"/>
              <a:gd name="connsiteX26" fmla="*/ 426395 w 463299"/>
              <a:gd name="connsiteY26" fmla="*/ 252206 h 604605"/>
              <a:gd name="connsiteX27" fmla="*/ 430565 w 463299"/>
              <a:gd name="connsiteY27" fmla="*/ 241302 h 604605"/>
              <a:gd name="connsiteX28" fmla="*/ 454392 w 463299"/>
              <a:gd name="connsiteY28" fmla="*/ 223559 h 604605"/>
              <a:gd name="connsiteX29" fmla="*/ 8810 w 463299"/>
              <a:gd name="connsiteY29" fmla="*/ 223559 h 604605"/>
              <a:gd name="connsiteX30" fmla="*/ 32739 w 463299"/>
              <a:gd name="connsiteY30" fmla="*/ 241302 h 604605"/>
              <a:gd name="connsiteX31" fmla="*/ 36910 w 463299"/>
              <a:gd name="connsiteY31" fmla="*/ 252206 h 604605"/>
              <a:gd name="connsiteX32" fmla="*/ 63520 w 463299"/>
              <a:gd name="connsiteY32" fmla="*/ 361049 h 604605"/>
              <a:gd name="connsiteX33" fmla="*/ 64016 w 463299"/>
              <a:gd name="connsiteY33" fmla="*/ 362734 h 604605"/>
              <a:gd name="connsiteX34" fmla="*/ 62229 w 463299"/>
              <a:gd name="connsiteY34" fmla="*/ 362337 h 604605"/>
              <a:gd name="connsiteX35" fmla="*/ 36413 w 463299"/>
              <a:gd name="connsiteY35" fmla="*/ 366401 h 604605"/>
              <a:gd name="connsiteX36" fmla="*/ 42668 w 463299"/>
              <a:gd name="connsiteY36" fmla="*/ 411703 h 604605"/>
              <a:gd name="connsiteX37" fmla="*/ 88144 w 463299"/>
              <a:gd name="connsiteY37" fmla="*/ 473162 h 604605"/>
              <a:gd name="connsiteX38" fmla="*/ 82385 w 463299"/>
              <a:gd name="connsiteY38" fmla="*/ 464240 h 604605"/>
              <a:gd name="connsiteX39" fmla="*/ 51903 w 463299"/>
              <a:gd name="connsiteY39" fmla="*/ 413685 h 604605"/>
              <a:gd name="connsiteX40" fmla="*/ 45250 w 463299"/>
              <a:gd name="connsiteY40" fmla="*/ 371754 h 604605"/>
              <a:gd name="connsiteX41" fmla="*/ 64016 w 463299"/>
              <a:gd name="connsiteY41" fmla="*/ 372151 h 604605"/>
              <a:gd name="connsiteX42" fmla="*/ 97477 w 463299"/>
              <a:gd name="connsiteY42" fmla="*/ 406350 h 604605"/>
              <a:gd name="connsiteX43" fmla="*/ 120017 w 463299"/>
              <a:gd name="connsiteY43" fmla="*/ 431033 h 604605"/>
              <a:gd name="connsiteX44" fmla="*/ 181578 w 463299"/>
              <a:gd name="connsiteY44" fmla="*/ 505180 h 604605"/>
              <a:gd name="connsiteX45" fmla="*/ 188627 w 463299"/>
              <a:gd name="connsiteY45" fmla="*/ 520347 h 604605"/>
              <a:gd name="connsiteX46" fmla="*/ 216826 w 463299"/>
              <a:gd name="connsiteY46" fmla="*/ 601036 h 604605"/>
              <a:gd name="connsiteX47" fmla="*/ 217819 w 463299"/>
              <a:gd name="connsiteY47" fmla="*/ 604605 h 604605"/>
              <a:gd name="connsiteX48" fmla="*/ 148017 w 463299"/>
              <a:gd name="connsiteY48" fmla="*/ 604605 h 604605"/>
              <a:gd name="connsiteX49" fmla="*/ 138684 w 463299"/>
              <a:gd name="connsiteY49" fmla="*/ 583094 h 604605"/>
              <a:gd name="connsiteX50" fmla="*/ 123591 w 463299"/>
              <a:gd name="connsiteY50" fmla="*/ 560196 h 604605"/>
              <a:gd name="connsiteX51" fmla="*/ 76924 w 463299"/>
              <a:gd name="connsiteY51" fmla="*/ 510731 h 604605"/>
              <a:gd name="connsiteX52" fmla="*/ 31647 w 463299"/>
              <a:gd name="connsiteY52" fmla="*/ 462555 h 604605"/>
              <a:gd name="connsiteX53" fmla="*/ 22016 w 463299"/>
              <a:gd name="connsiteY53" fmla="*/ 448182 h 604605"/>
              <a:gd name="connsiteX54" fmla="*/ 12782 w 463299"/>
              <a:gd name="connsiteY54" fmla="*/ 403277 h 604605"/>
              <a:gd name="connsiteX55" fmla="*/ 11392 w 463299"/>
              <a:gd name="connsiteY55" fmla="*/ 388507 h 604605"/>
              <a:gd name="connsiteX56" fmla="*/ 72 w 463299"/>
              <a:gd name="connsiteY56" fmla="*/ 245267 h 604605"/>
              <a:gd name="connsiteX57" fmla="*/ 8810 w 463299"/>
              <a:gd name="connsiteY57" fmla="*/ 223559 h 604605"/>
              <a:gd name="connsiteX58" fmla="*/ 355234 w 463299"/>
              <a:gd name="connsiteY58" fmla="*/ 208098 h 604605"/>
              <a:gd name="connsiteX59" fmla="*/ 362182 w 463299"/>
              <a:gd name="connsiteY59" fmla="*/ 210375 h 604605"/>
              <a:gd name="connsiteX60" fmla="*/ 387990 w 463299"/>
              <a:gd name="connsiteY60" fmla="*/ 228397 h 604605"/>
              <a:gd name="connsiteX61" fmla="*/ 391067 w 463299"/>
              <a:gd name="connsiteY61" fmla="*/ 245429 h 604605"/>
              <a:gd name="connsiteX62" fmla="*/ 380942 w 463299"/>
              <a:gd name="connsiteY62" fmla="*/ 250578 h 604605"/>
              <a:gd name="connsiteX63" fmla="*/ 373994 w 463299"/>
              <a:gd name="connsiteY63" fmla="*/ 248400 h 604605"/>
              <a:gd name="connsiteX64" fmla="*/ 348186 w 463299"/>
              <a:gd name="connsiteY64" fmla="*/ 230378 h 604605"/>
              <a:gd name="connsiteX65" fmla="*/ 345109 w 463299"/>
              <a:gd name="connsiteY65" fmla="*/ 213346 h 604605"/>
              <a:gd name="connsiteX66" fmla="*/ 355234 w 463299"/>
              <a:gd name="connsiteY66" fmla="*/ 208098 h 604605"/>
              <a:gd name="connsiteX67" fmla="*/ 108105 w 463299"/>
              <a:gd name="connsiteY67" fmla="*/ 208098 h 604605"/>
              <a:gd name="connsiteX68" fmla="*/ 118123 w 463299"/>
              <a:gd name="connsiteY68" fmla="*/ 213346 h 604605"/>
              <a:gd name="connsiteX69" fmla="*/ 115147 w 463299"/>
              <a:gd name="connsiteY69" fmla="*/ 230378 h 604605"/>
              <a:gd name="connsiteX70" fmla="*/ 89360 w 463299"/>
              <a:gd name="connsiteY70" fmla="*/ 248400 h 604605"/>
              <a:gd name="connsiteX71" fmla="*/ 82318 w 463299"/>
              <a:gd name="connsiteY71" fmla="*/ 250578 h 604605"/>
              <a:gd name="connsiteX72" fmla="*/ 72300 w 463299"/>
              <a:gd name="connsiteY72" fmla="*/ 245429 h 604605"/>
              <a:gd name="connsiteX73" fmla="*/ 75276 w 463299"/>
              <a:gd name="connsiteY73" fmla="*/ 228397 h 604605"/>
              <a:gd name="connsiteX74" fmla="*/ 101063 w 463299"/>
              <a:gd name="connsiteY74" fmla="*/ 210375 h 604605"/>
              <a:gd name="connsiteX75" fmla="*/ 108105 w 463299"/>
              <a:gd name="connsiteY75" fmla="*/ 208098 h 604605"/>
              <a:gd name="connsiteX76" fmla="*/ 255572 w 463299"/>
              <a:gd name="connsiteY76" fmla="*/ 194126 h 604605"/>
              <a:gd name="connsiteX77" fmla="*/ 234020 w 463299"/>
              <a:gd name="connsiteY77" fmla="*/ 333140 h 604605"/>
              <a:gd name="connsiteX78" fmla="*/ 229451 w 463299"/>
              <a:gd name="connsiteY78" fmla="*/ 333140 h 604605"/>
              <a:gd name="connsiteX79" fmla="*/ 207799 w 463299"/>
              <a:gd name="connsiteY79" fmla="*/ 194225 h 604605"/>
              <a:gd name="connsiteX80" fmla="*/ 230245 w 463299"/>
              <a:gd name="connsiteY80" fmla="*/ 198486 h 604605"/>
              <a:gd name="connsiteX81" fmla="*/ 232927 w 463299"/>
              <a:gd name="connsiteY81" fmla="*/ 198486 h 604605"/>
              <a:gd name="connsiteX82" fmla="*/ 200548 w 463299"/>
              <a:gd name="connsiteY82" fmla="*/ 178337 h 604605"/>
              <a:gd name="connsiteX83" fmla="*/ 194295 w 463299"/>
              <a:gd name="connsiteY83" fmla="*/ 180220 h 604605"/>
              <a:gd name="connsiteX84" fmla="*/ 192211 w 463299"/>
              <a:gd name="connsiteY84" fmla="*/ 186366 h 604605"/>
              <a:gd name="connsiteX85" fmla="*/ 216429 w 463299"/>
              <a:gd name="connsiteY85" fmla="*/ 341305 h 604605"/>
              <a:gd name="connsiteX86" fmla="*/ 223377 w 463299"/>
              <a:gd name="connsiteY86" fmla="*/ 347252 h 604605"/>
              <a:gd name="connsiteX87" fmla="*/ 240051 w 463299"/>
              <a:gd name="connsiteY87" fmla="*/ 347252 h 604605"/>
              <a:gd name="connsiteX88" fmla="*/ 246999 w 463299"/>
              <a:gd name="connsiteY88" fmla="*/ 341305 h 604605"/>
              <a:gd name="connsiteX89" fmla="*/ 271018 w 463299"/>
              <a:gd name="connsiteY89" fmla="*/ 186366 h 604605"/>
              <a:gd name="connsiteX90" fmla="*/ 269033 w 463299"/>
              <a:gd name="connsiteY90" fmla="*/ 180220 h 604605"/>
              <a:gd name="connsiteX91" fmla="*/ 262780 w 463299"/>
              <a:gd name="connsiteY91" fmla="*/ 178337 h 604605"/>
              <a:gd name="connsiteX92" fmla="*/ 231714 w 463299"/>
              <a:gd name="connsiteY92" fmla="*/ 184384 h 604605"/>
              <a:gd name="connsiteX93" fmla="*/ 380942 w 463299"/>
              <a:gd name="connsiteY93" fmla="*/ 85455 h 604605"/>
              <a:gd name="connsiteX94" fmla="*/ 391067 w 463299"/>
              <a:gd name="connsiteY94" fmla="*/ 90613 h 604605"/>
              <a:gd name="connsiteX95" fmla="*/ 387990 w 463299"/>
              <a:gd name="connsiteY95" fmla="*/ 107673 h 604605"/>
              <a:gd name="connsiteX96" fmla="*/ 362182 w 463299"/>
              <a:gd name="connsiteY96" fmla="*/ 125725 h 604605"/>
              <a:gd name="connsiteX97" fmla="*/ 355234 w 463299"/>
              <a:gd name="connsiteY97" fmla="*/ 128006 h 604605"/>
              <a:gd name="connsiteX98" fmla="*/ 345109 w 463299"/>
              <a:gd name="connsiteY98" fmla="*/ 122749 h 604605"/>
              <a:gd name="connsiteX99" fmla="*/ 348186 w 463299"/>
              <a:gd name="connsiteY99" fmla="*/ 105689 h 604605"/>
              <a:gd name="connsiteX100" fmla="*/ 373994 w 463299"/>
              <a:gd name="connsiteY100" fmla="*/ 87637 h 604605"/>
              <a:gd name="connsiteX101" fmla="*/ 380942 w 463299"/>
              <a:gd name="connsiteY101" fmla="*/ 85455 h 604605"/>
              <a:gd name="connsiteX102" fmla="*/ 82318 w 463299"/>
              <a:gd name="connsiteY102" fmla="*/ 85455 h 604605"/>
              <a:gd name="connsiteX103" fmla="*/ 89360 w 463299"/>
              <a:gd name="connsiteY103" fmla="*/ 87637 h 604605"/>
              <a:gd name="connsiteX104" fmla="*/ 115147 w 463299"/>
              <a:gd name="connsiteY104" fmla="*/ 105689 h 604605"/>
              <a:gd name="connsiteX105" fmla="*/ 118123 w 463299"/>
              <a:gd name="connsiteY105" fmla="*/ 122749 h 604605"/>
              <a:gd name="connsiteX106" fmla="*/ 108105 w 463299"/>
              <a:gd name="connsiteY106" fmla="*/ 128006 h 604605"/>
              <a:gd name="connsiteX107" fmla="*/ 101063 w 463299"/>
              <a:gd name="connsiteY107" fmla="*/ 125725 h 604605"/>
              <a:gd name="connsiteX108" fmla="*/ 75276 w 463299"/>
              <a:gd name="connsiteY108" fmla="*/ 107673 h 604605"/>
              <a:gd name="connsiteX109" fmla="*/ 72300 w 463299"/>
              <a:gd name="connsiteY109" fmla="*/ 90613 h 604605"/>
              <a:gd name="connsiteX110" fmla="*/ 82318 w 463299"/>
              <a:gd name="connsiteY110" fmla="*/ 85455 h 604605"/>
              <a:gd name="connsiteX111" fmla="*/ 231615 w 463299"/>
              <a:gd name="connsiteY111" fmla="*/ 65132 h 604605"/>
              <a:gd name="connsiteX112" fmla="*/ 339403 w 463299"/>
              <a:gd name="connsiteY112" fmla="*/ 172786 h 604605"/>
              <a:gd name="connsiteX113" fmla="*/ 304168 w 463299"/>
              <a:gd name="connsiteY113" fmla="*/ 268643 h 604605"/>
              <a:gd name="connsiteX114" fmla="*/ 272110 w 463299"/>
              <a:gd name="connsiteY114" fmla="*/ 353002 h 604605"/>
              <a:gd name="connsiteX115" fmla="*/ 271812 w 463299"/>
              <a:gd name="connsiteY115" fmla="*/ 354984 h 604605"/>
              <a:gd name="connsiteX116" fmla="*/ 275881 w 463299"/>
              <a:gd name="connsiteY116" fmla="*/ 363113 h 604605"/>
              <a:gd name="connsiteX117" fmla="*/ 218811 w 463299"/>
              <a:gd name="connsiteY117" fmla="*/ 371836 h 604605"/>
              <a:gd name="connsiteX118" fmla="*/ 281737 w 463299"/>
              <a:gd name="connsiteY118" fmla="*/ 383236 h 604605"/>
              <a:gd name="connsiteX119" fmla="*/ 231323 w 463299"/>
              <a:gd name="connsiteY119" fmla="*/ 394444 h 604605"/>
              <a:gd name="connsiteX120" fmla="*/ 231123 w 463299"/>
              <a:gd name="connsiteY120" fmla="*/ 394448 h 604605"/>
              <a:gd name="connsiteX121" fmla="*/ 230408 w 463299"/>
              <a:gd name="connsiteY121" fmla="*/ 394432 h 604605"/>
              <a:gd name="connsiteX122" fmla="*/ 221987 w 463299"/>
              <a:gd name="connsiteY122" fmla="*/ 394636 h 604605"/>
              <a:gd name="connsiteX123" fmla="*/ 231123 w 463299"/>
              <a:gd name="connsiteY123" fmla="*/ 394448 h 604605"/>
              <a:gd name="connsiteX124" fmla="*/ 248934 w 463299"/>
              <a:gd name="connsiteY124" fmla="*/ 394859 h 604605"/>
              <a:gd name="connsiteX125" fmla="*/ 275881 w 463299"/>
              <a:gd name="connsiteY125" fmla="*/ 403855 h 604605"/>
              <a:gd name="connsiteX126" fmla="*/ 265857 w 463299"/>
              <a:gd name="connsiteY126" fmla="*/ 413867 h 604605"/>
              <a:gd name="connsiteX127" fmla="*/ 197472 w 463299"/>
              <a:gd name="connsiteY127" fmla="*/ 413867 h 604605"/>
              <a:gd name="connsiteX128" fmla="*/ 187348 w 463299"/>
              <a:gd name="connsiteY128" fmla="*/ 403855 h 604605"/>
              <a:gd name="connsiteX129" fmla="*/ 193204 w 463299"/>
              <a:gd name="connsiteY129" fmla="*/ 394636 h 604605"/>
              <a:gd name="connsiteX130" fmla="*/ 181591 w 463299"/>
              <a:gd name="connsiteY130" fmla="*/ 383236 h 604605"/>
              <a:gd name="connsiteX131" fmla="*/ 192509 w 463299"/>
              <a:gd name="connsiteY131" fmla="*/ 371836 h 604605"/>
              <a:gd name="connsiteX132" fmla="*/ 187348 w 463299"/>
              <a:gd name="connsiteY132" fmla="*/ 363113 h 604605"/>
              <a:gd name="connsiteX133" fmla="*/ 191417 w 463299"/>
              <a:gd name="connsiteY133" fmla="*/ 354984 h 604605"/>
              <a:gd name="connsiteX134" fmla="*/ 191219 w 463299"/>
              <a:gd name="connsiteY134" fmla="*/ 353002 h 604605"/>
              <a:gd name="connsiteX135" fmla="*/ 159259 w 463299"/>
              <a:gd name="connsiteY135" fmla="*/ 268842 h 604605"/>
              <a:gd name="connsiteX136" fmla="*/ 123826 w 463299"/>
              <a:gd name="connsiteY136" fmla="*/ 172786 h 604605"/>
              <a:gd name="connsiteX137" fmla="*/ 231615 w 463299"/>
              <a:gd name="connsiteY137" fmla="*/ 65132 h 604605"/>
              <a:gd name="connsiteX138" fmla="*/ 231601 w 463299"/>
              <a:gd name="connsiteY138" fmla="*/ 0 h 604605"/>
              <a:gd name="connsiteX139" fmla="*/ 243929 w 463299"/>
              <a:gd name="connsiteY139" fmla="*/ 12293 h 604605"/>
              <a:gd name="connsiteX140" fmla="*/ 243929 w 463299"/>
              <a:gd name="connsiteY140" fmla="*/ 39855 h 604605"/>
              <a:gd name="connsiteX141" fmla="*/ 231601 w 463299"/>
              <a:gd name="connsiteY141" fmla="*/ 52148 h 604605"/>
              <a:gd name="connsiteX142" fmla="*/ 219372 w 463299"/>
              <a:gd name="connsiteY142" fmla="*/ 39855 h 604605"/>
              <a:gd name="connsiteX143" fmla="*/ 219372 w 463299"/>
              <a:gd name="connsiteY143" fmla="*/ 12293 h 604605"/>
              <a:gd name="connsiteX144" fmla="*/ 231601 w 463299"/>
              <a:gd name="connsiteY144" fmla="*/ 0 h 604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63299" h="604605">
                <a:moveTo>
                  <a:pt x="454392" y="223559"/>
                </a:moveTo>
                <a:cubicBezTo>
                  <a:pt x="458065" y="224550"/>
                  <a:pt x="464022" y="228713"/>
                  <a:pt x="463228" y="245267"/>
                </a:cubicBezTo>
                <a:lnTo>
                  <a:pt x="451811" y="388606"/>
                </a:lnTo>
                <a:cubicBezTo>
                  <a:pt x="451314" y="393265"/>
                  <a:pt x="450818" y="398122"/>
                  <a:pt x="450421" y="403376"/>
                </a:cubicBezTo>
                <a:cubicBezTo>
                  <a:pt x="449130" y="419236"/>
                  <a:pt x="447740" y="435592"/>
                  <a:pt x="441188" y="448182"/>
                </a:cubicBezTo>
                <a:cubicBezTo>
                  <a:pt x="438507" y="453435"/>
                  <a:pt x="435430" y="458094"/>
                  <a:pt x="431657" y="462555"/>
                </a:cubicBezTo>
                <a:cubicBezTo>
                  <a:pt x="424906" y="470684"/>
                  <a:pt x="406142" y="490113"/>
                  <a:pt x="386287" y="510731"/>
                </a:cubicBezTo>
                <a:cubicBezTo>
                  <a:pt x="367027" y="530755"/>
                  <a:pt x="346972" y="551572"/>
                  <a:pt x="339725" y="560196"/>
                </a:cubicBezTo>
                <a:cubicBezTo>
                  <a:pt x="333967" y="567036"/>
                  <a:pt x="329003" y="574470"/>
                  <a:pt x="324535" y="583094"/>
                </a:cubicBezTo>
                <a:cubicBezTo>
                  <a:pt x="320961" y="590033"/>
                  <a:pt x="317983" y="597270"/>
                  <a:pt x="315302" y="604605"/>
                </a:cubicBezTo>
                <a:lnTo>
                  <a:pt x="245410" y="604605"/>
                </a:lnTo>
                <a:lnTo>
                  <a:pt x="246502" y="601036"/>
                </a:lnTo>
                <a:cubicBezTo>
                  <a:pt x="254841" y="572587"/>
                  <a:pt x="264074" y="546120"/>
                  <a:pt x="274697" y="520347"/>
                </a:cubicBezTo>
                <a:cubicBezTo>
                  <a:pt x="276782" y="515192"/>
                  <a:pt x="279165" y="510037"/>
                  <a:pt x="281647" y="505180"/>
                </a:cubicBezTo>
                <a:cubicBezTo>
                  <a:pt x="298326" y="473063"/>
                  <a:pt x="321160" y="451651"/>
                  <a:pt x="343200" y="431033"/>
                </a:cubicBezTo>
                <a:cubicBezTo>
                  <a:pt x="349454" y="425184"/>
                  <a:pt x="357397" y="416064"/>
                  <a:pt x="365736" y="406350"/>
                </a:cubicBezTo>
                <a:cubicBezTo>
                  <a:pt x="378047" y="392274"/>
                  <a:pt x="390754" y="377702"/>
                  <a:pt x="399193" y="372151"/>
                </a:cubicBezTo>
                <a:cubicBezTo>
                  <a:pt x="406937" y="367095"/>
                  <a:pt x="413291" y="366996"/>
                  <a:pt x="417957" y="371754"/>
                </a:cubicBezTo>
                <a:cubicBezTo>
                  <a:pt x="424807" y="378693"/>
                  <a:pt x="422821" y="391580"/>
                  <a:pt x="411404" y="413685"/>
                </a:cubicBezTo>
                <a:cubicBezTo>
                  <a:pt x="403760" y="428455"/>
                  <a:pt x="392641" y="445803"/>
                  <a:pt x="380926" y="464240"/>
                </a:cubicBezTo>
                <a:cubicBezTo>
                  <a:pt x="379039" y="467214"/>
                  <a:pt x="377054" y="470188"/>
                  <a:pt x="375167" y="473162"/>
                </a:cubicBezTo>
                <a:cubicBezTo>
                  <a:pt x="395917" y="450462"/>
                  <a:pt x="411206" y="429843"/>
                  <a:pt x="420637" y="411703"/>
                </a:cubicBezTo>
                <a:cubicBezTo>
                  <a:pt x="431459" y="390886"/>
                  <a:pt x="433643" y="374827"/>
                  <a:pt x="426792" y="366401"/>
                </a:cubicBezTo>
                <a:cubicBezTo>
                  <a:pt x="422027" y="360553"/>
                  <a:pt x="412893" y="359066"/>
                  <a:pt x="401079" y="362337"/>
                </a:cubicBezTo>
                <a:lnTo>
                  <a:pt x="399292" y="362734"/>
                </a:lnTo>
                <a:lnTo>
                  <a:pt x="399689" y="361049"/>
                </a:lnTo>
                <a:cubicBezTo>
                  <a:pt x="399888" y="360057"/>
                  <a:pt x="421729" y="269355"/>
                  <a:pt x="426395" y="252206"/>
                </a:cubicBezTo>
                <a:cubicBezTo>
                  <a:pt x="427388" y="248340"/>
                  <a:pt x="428778" y="244673"/>
                  <a:pt x="430565" y="241302"/>
                </a:cubicBezTo>
                <a:cubicBezTo>
                  <a:pt x="436919" y="229011"/>
                  <a:pt x="446946" y="221576"/>
                  <a:pt x="454392" y="223559"/>
                </a:cubicBezTo>
                <a:close/>
                <a:moveTo>
                  <a:pt x="8810" y="223559"/>
                </a:moveTo>
                <a:cubicBezTo>
                  <a:pt x="16257" y="221576"/>
                  <a:pt x="26385" y="229011"/>
                  <a:pt x="32739" y="241302"/>
                </a:cubicBezTo>
                <a:cubicBezTo>
                  <a:pt x="34427" y="244673"/>
                  <a:pt x="35917" y="248340"/>
                  <a:pt x="36910" y="252206"/>
                </a:cubicBezTo>
                <a:cubicBezTo>
                  <a:pt x="41477" y="269355"/>
                  <a:pt x="63321" y="360057"/>
                  <a:pt x="63520" y="361049"/>
                </a:cubicBezTo>
                <a:lnTo>
                  <a:pt x="64016" y="362734"/>
                </a:lnTo>
                <a:lnTo>
                  <a:pt x="62229" y="362337"/>
                </a:lnTo>
                <a:cubicBezTo>
                  <a:pt x="50413" y="359066"/>
                  <a:pt x="41278" y="360553"/>
                  <a:pt x="36413" y="366401"/>
                </a:cubicBezTo>
                <a:cubicBezTo>
                  <a:pt x="29661" y="374827"/>
                  <a:pt x="31846" y="390886"/>
                  <a:pt x="42668" y="411703"/>
                </a:cubicBezTo>
                <a:cubicBezTo>
                  <a:pt x="52002" y="429843"/>
                  <a:pt x="67293" y="450462"/>
                  <a:pt x="88144" y="473162"/>
                </a:cubicBezTo>
                <a:cubicBezTo>
                  <a:pt x="86158" y="470188"/>
                  <a:pt x="84272" y="467214"/>
                  <a:pt x="82385" y="464240"/>
                </a:cubicBezTo>
                <a:cubicBezTo>
                  <a:pt x="70669" y="445803"/>
                  <a:pt x="59548" y="428455"/>
                  <a:pt x="51903" y="413685"/>
                </a:cubicBezTo>
                <a:cubicBezTo>
                  <a:pt x="40484" y="391580"/>
                  <a:pt x="38399" y="378693"/>
                  <a:pt x="45250" y="371754"/>
                </a:cubicBezTo>
                <a:cubicBezTo>
                  <a:pt x="50016" y="366996"/>
                  <a:pt x="56371" y="367095"/>
                  <a:pt x="64016" y="372151"/>
                </a:cubicBezTo>
                <a:cubicBezTo>
                  <a:pt x="72555" y="377702"/>
                  <a:pt x="85265" y="392274"/>
                  <a:pt x="97477" y="406350"/>
                </a:cubicBezTo>
                <a:cubicBezTo>
                  <a:pt x="105917" y="416064"/>
                  <a:pt x="113861" y="425184"/>
                  <a:pt x="120017" y="431033"/>
                </a:cubicBezTo>
                <a:cubicBezTo>
                  <a:pt x="142159" y="451651"/>
                  <a:pt x="164996" y="473063"/>
                  <a:pt x="181578" y="505180"/>
                </a:cubicBezTo>
                <a:cubicBezTo>
                  <a:pt x="184159" y="510037"/>
                  <a:pt x="186542" y="515192"/>
                  <a:pt x="188627" y="520347"/>
                </a:cubicBezTo>
                <a:cubicBezTo>
                  <a:pt x="199152" y="546120"/>
                  <a:pt x="208386" y="572488"/>
                  <a:pt x="216826" y="601036"/>
                </a:cubicBezTo>
                <a:lnTo>
                  <a:pt x="217819" y="604605"/>
                </a:lnTo>
                <a:lnTo>
                  <a:pt x="148017" y="604605"/>
                </a:lnTo>
                <a:cubicBezTo>
                  <a:pt x="145336" y="597270"/>
                  <a:pt x="142258" y="590033"/>
                  <a:pt x="138684" y="583094"/>
                </a:cubicBezTo>
                <a:cubicBezTo>
                  <a:pt x="134215" y="574470"/>
                  <a:pt x="129251" y="567036"/>
                  <a:pt x="123591" y="560196"/>
                </a:cubicBezTo>
                <a:cubicBezTo>
                  <a:pt x="116244" y="551572"/>
                  <a:pt x="96286" y="530755"/>
                  <a:pt x="76924" y="510731"/>
                </a:cubicBezTo>
                <a:cubicBezTo>
                  <a:pt x="57066" y="490113"/>
                  <a:pt x="38399" y="470684"/>
                  <a:pt x="31647" y="462555"/>
                </a:cubicBezTo>
                <a:cubicBezTo>
                  <a:pt x="27874" y="458094"/>
                  <a:pt x="24697" y="453336"/>
                  <a:pt x="22016" y="448182"/>
                </a:cubicBezTo>
                <a:cubicBezTo>
                  <a:pt x="15562" y="435592"/>
                  <a:pt x="14172" y="419236"/>
                  <a:pt x="12782" y="403277"/>
                </a:cubicBezTo>
                <a:cubicBezTo>
                  <a:pt x="12385" y="398122"/>
                  <a:pt x="11987" y="393265"/>
                  <a:pt x="11392" y="388507"/>
                </a:cubicBezTo>
                <a:lnTo>
                  <a:pt x="72" y="245267"/>
                </a:lnTo>
                <a:cubicBezTo>
                  <a:pt x="-722" y="228713"/>
                  <a:pt x="5236" y="224550"/>
                  <a:pt x="8810" y="223559"/>
                </a:cubicBezTo>
                <a:close/>
                <a:moveTo>
                  <a:pt x="355234" y="208098"/>
                </a:moveTo>
                <a:cubicBezTo>
                  <a:pt x="357715" y="208098"/>
                  <a:pt x="360197" y="208890"/>
                  <a:pt x="362182" y="210375"/>
                </a:cubicBezTo>
                <a:lnTo>
                  <a:pt x="387990" y="228397"/>
                </a:lnTo>
                <a:cubicBezTo>
                  <a:pt x="393548" y="232259"/>
                  <a:pt x="394938" y="239884"/>
                  <a:pt x="391067" y="245429"/>
                </a:cubicBezTo>
                <a:cubicBezTo>
                  <a:pt x="388784" y="248697"/>
                  <a:pt x="385012" y="250578"/>
                  <a:pt x="380942" y="250578"/>
                </a:cubicBezTo>
                <a:cubicBezTo>
                  <a:pt x="378461" y="250578"/>
                  <a:pt x="375979" y="249885"/>
                  <a:pt x="373994" y="248400"/>
                </a:cubicBezTo>
                <a:lnTo>
                  <a:pt x="348186" y="230378"/>
                </a:lnTo>
                <a:cubicBezTo>
                  <a:pt x="342628" y="226516"/>
                  <a:pt x="341238" y="218891"/>
                  <a:pt x="345109" y="213346"/>
                </a:cubicBezTo>
                <a:cubicBezTo>
                  <a:pt x="347392" y="210078"/>
                  <a:pt x="351164" y="208098"/>
                  <a:pt x="355234" y="208098"/>
                </a:cubicBezTo>
                <a:close/>
                <a:moveTo>
                  <a:pt x="108105" y="208098"/>
                </a:moveTo>
                <a:cubicBezTo>
                  <a:pt x="112073" y="208098"/>
                  <a:pt x="115842" y="210078"/>
                  <a:pt x="118123" y="213346"/>
                </a:cubicBezTo>
                <a:cubicBezTo>
                  <a:pt x="121991" y="218891"/>
                  <a:pt x="120702" y="226516"/>
                  <a:pt x="115147" y="230378"/>
                </a:cubicBezTo>
                <a:lnTo>
                  <a:pt x="89360" y="248400"/>
                </a:lnTo>
                <a:cubicBezTo>
                  <a:pt x="87277" y="249885"/>
                  <a:pt x="84896" y="250578"/>
                  <a:pt x="82318" y="250578"/>
                </a:cubicBezTo>
                <a:cubicBezTo>
                  <a:pt x="78350" y="250578"/>
                  <a:pt x="74581" y="248697"/>
                  <a:pt x="72300" y="245429"/>
                </a:cubicBezTo>
                <a:cubicBezTo>
                  <a:pt x="68432" y="239884"/>
                  <a:pt x="69821" y="232259"/>
                  <a:pt x="75276" y="228397"/>
                </a:cubicBezTo>
                <a:lnTo>
                  <a:pt x="101063" y="210375"/>
                </a:lnTo>
                <a:cubicBezTo>
                  <a:pt x="103146" y="208890"/>
                  <a:pt x="105626" y="208098"/>
                  <a:pt x="108105" y="208098"/>
                </a:cubicBezTo>
                <a:close/>
                <a:moveTo>
                  <a:pt x="255572" y="194126"/>
                </a:moveTo>
                <a:lnTo>
                  <a:pt x="234020" y="333140"/>
                </a:lnTo>
                <a:lnTo>
                  <a:pt x="229451" y="333140"/>
                </a:lnTo>
                <a:lnTo>
                  <a:pt x="207799" y="194225"/>
                </a:lnTo>
                <a:lnTo>
                  <a:pt x="230245" y="198486"/>
                </a:lnTo>
                <a:cubicBezTo>
                  <a:pt x="231139" y="198684"/>
                  <a:pt x="232033" y="198684"/>
                  <a:pt x="232927" y="198486"/>
                </a:cubicBezTo>
                <a:close/>
                <a:moveTo>
                  <a:pt x="200548" y="178337"/>
                </a:moveTo>
                <a:cubicBezTo>
                  <a:pt x="198266" y="177941"/>
                  <a:pt x="195983" y="178634"/>
                  <a:pt x="194295" y="180220"/>
                </a:cubicBezTo>
                <a:cubicBezTo>
                  <a:pt x="192608" y="181807"/>
                  <a:pt x="191913" y="184087"/>
                  <a:pt x="192211" y="186366"/>
                </a:cubicBezTo>
                <a:lnTo>
                  <a:pt x="216429" y="341305"/>
                </a:lnTo>
                <a:cubicBezTo>
                  <a:pt x="216925" y="344774"/>
                  <a:pt x="219903" y="347252"/>
                  <a:pt x="223377" y="347252"/>
                </a:cubicBezTo>
                <a:lnTo>
                  <a:pt x="240051" y="347252"/>
                </a:lnTo>
                <a:cubicBezTo>
                  <a:pt x="243525" y="347252"/>
                  <a:pt x="246502" y="344774"/>
                  <a:pt x="246999" y="341305"/>
                </a:cubicBezTo>
                <a:lnTo>
                  <a:pt x="271018" y="186366"/>
                </a:lnTo>
                <a:cubicBezTo>
                  <a:pt x="271415" y="184087"/>
                  <a:pt x="270621" y="181807"/>
                  <a:pt x="269033" y="180220"/>
                </a:cubicBezTo>
                <a:cubicBezTo>
                  <a:pt x="267345" y="178634"/>
                  <a:pt x="265063" y="177941"/>
                  <a:pt x="262780" y="178337"/>
                </a:cubicBezTo>
                <a:lnTo>
                  <a:pt x="231714" y="184384"/>
                </a:lnTo>
                <a:close/>
                <a:moveTo>
                  <a:pt x="380942" y="85455"/>
                </a:moveTo>
                <a:cubicBezTo>
                  <a:pt x="385012" y="85455"/>
                  <a:pt x="388685" y="87340"/>
                  <a:pt x="391067" y="90613"/>
                </a:cubicBezTo>
                <a:cubicBezTo>
                  <a:pt x="394938" y="96167"/>
                  <a:pt x="393548" y="103804"/>
                  <a:pt x="387990" y="107673"/>
                </a:cubicBezTo>
                <a:lnTo>
                  <a:pt x="362182" y="125725"/>
                </a:lnTo>
                <a:cubicBezTo>
                  <a:pt x="360098" y="127213"/>
                  <a:pt x="357715" y="128006"/>
                  <a:pt x="355234" y="128006"/>
                </a:cubicBezTo>
                <a:cubicBezTo>
                  <a:pt x="351164" y="128006"/>
                  <a:pt x="347392" y="126022"/>
                  <a:pt x="345109" y="122749"/>
                </a:cubicBezTo>
                <a:cubicBezTo>
                  <a:pt x="341238" y="117195"/>
                  <a:pt x="342628" y="109557"/>
                  <a:pt x="348186" y="105689"/>
                </a:cubicBezTo>
                <a:lnTo>
                  <a:pt x="373994" y="87637"/>
                </a:lnTo>
                <a:cubicBezTo>
                  <a:pt x="375979" y="86149"/>
                  <a:pt x="378461" y="85455"/>
                  <a:pt x="380942" y="85455"/>
                </a:cubicBezTo>
                <a:close/>
                <a:moveTo>
                  <a:pt x="82318" y="85455"/>
                </a:moveTo>
                <a:cubicBezTo>
                  <a:pt x="84896" y="85455"/>
                  <a:pt x="87277" y="86149"/>
                  <a:pt x="89360" y="87637"/>
                </a:cubicBezTo>
                <a:lnTo>
                  <a:pt x="115147" y="105689"/>
                </a:lnTo>
                <a:cubicBezTo>
                  <a:pt x="120702" y="109557"/>
                  <a:pt x="121991" y="117195"/>
                  <a:pt x="118123" y="122749"/>
                </a:cubicBezTo>
                <a:cubicBezTo>
                  <a:pt x="115842" y="126022"/>
                  <a:pt x="112073" y="128006"/>
                  <a:pt x="108105" y="128006"/>
                </a:cubicBezTo>
                <a:cubicBezTo>
                  <a:pt x="105626" y="128006"/>
                  <a:pt x="103146" y="127213"/>
                  <a:pt x="101063" y="125725"/>
                </a:cubicBezTo>
                <a:lnTo>
                  <a:pt x="75276" y="107673"/>
                </a:lnTo>
                <a:cubicBezTo>
                  <a:pt x="69821" y="103804"/>
                  <a:pt x="68432" y="96167"/>
                  <a:pt x="72300" y="90613"/>
                </a:cubicBezTo>
                <a:cubicBezTo>
                  <a:pt x="74581" y="87340"/>
                  <a:pt x="78350" y="85455"/>
                  <a:pt x="82318" y="85455"/>
                </a:cubicBezTo>
                <a:close/>
                <a:moveTo>
                  <a:pt x="231615" y="65132"/>
                </a:moveTo>
                <a:cubicBezTo>
                  <a:pt x="291067" y="65132"/>
                  <a:pt x="339403" y="113408"/>
                  <a:pt x="339403" y="172786"/>
                </a:cubicBezTo>
                <a:cubicBezTo>
                  <a:pt x="339403" y="211743"/>
                  <a:pt x="321537" y="240689"/>
                  <a:pt x="304168" y="268643"/>
                </a:cubicBezTo>
                <a:cubicBezTo>
                  <a:pt x="287692" y="295210"/>
                  <a:pt x="272110" y="320190"/>
                  <a:pt x="272110" y="353002"/>
                </a:cubicBezTo>
                <a:cubicBezTo>
                  <a:pt x="272110" y="353696"/>
                  <a:pt x="272010" y="354390"/>
                  <a:pt x="271812" y="354984"/>
                </a:cubicBezTo>
                <a:cubicBezTo>
                  <a:pt x="274293" y="356868"/>
                  <a:pt x="275881" y="359743"/>
                  <a:pt x="275881" y="363113"/>
                </a:cubicBezTo>
                <a:cubicBezTo>
                  <a:pt x="275881" y="372035"/>
                  <a:pt x="218811" y="371836"/>
                  <a:pt x="218811" y="371836"/>
                </a:cubicBezTo>
                <a:cubicBezTo>
                  <a:pt x="218811" y="371836"/>
                  <a:pt x="281737" y="372035"/>
                  <a:pt x="281737" y="383236"/>
                </a:cubicBezTo>
                <a:cubicBezTo>
                  <a:pt x="281737" y="391712"/>
                  <a:pt x="248128" y="393886"/>
                  <a:pt x="231323" y="394444"/>
                </a:cubicBezTo>
                <a:lnTo>
                  <a:pt x="231123" y="394448"/>
                </a:lnTo>
                <a:lnTo>
                  <a:pt x="230408" y="394432"/>
                </a:lnTo>
                <a:cubicBezTo>
                  <a:pt x="225355" y="394481"/>
                  <a:pt x="221987" y="394636"/>
                  <a:pt x="221987" y="394636"/>
                </a:cubicBezTo>
                <a:lnTo>
                  <a:pt x="231123" y="394448"/>
                </a:lnTo>
                <a:lnTo>
                  <a:pt x="248934" y="394859"/>
                </a:lnTo>
                <a:cubicBezTo>
                  <a:pt x="262407" y="395702"/>
                  <a:pt x="275881" y="398006"/>
                  <a:pt x="275881" y="403855"/>
                </a:cubicBezTo>
                <a:cubicBezTo>
                  <a:pt x="275881" y="409406"/>
                  <a:pt x="271415" y="413867"/>
                  <a:pt x="265857" y="413867"/>
                </a:cubicBezTo>
                <a:lnTo>
                  <a:pt x="197472" y="413867"/>
                </a:lnTo>
                <a:cubicBezTo>
                  <a:pt x="191913" y="413867"/>
                  <a:pt x="187348" y="409406"/>
                  <a:pt x="187348" y="403855"/>
                </a:cubicBezTo>
                <a:cubicBezTo>
                  <a:pt x="187348" y="399791"/>
                  <a:pt x="193204" y="398601"/>
                  <a:pt x="193204" y="394636"/>
                </a:cubicBezTo>
                <a:cubicBezTo>
                  <a:pt x="193204" y="390770"/>
                  <a:pt x="181591" y="389580"/>
                  <a:pt x="181591" y="383236"/>
                </a:cubicBezTo>
                <a:cubicBezTo>
                  <a:pt x="181591" y="377090"/>
                  <a:pt x="192410" y="375207"/>
                  <a:pt x="192509" y="371836"/>
                </a:cubicBezTo>
                <a:cubicBezTo>
                  <a:pt x="192707" y="368466"/>
                  <a:pt x="187348" y="366880"/>
                  <a:pt x="187348" y="363113"/>
                </a:cubicBezTo>
                <a:cubicBezTo>
                  <a:pt x="187348" y="359743"/>
                  <a:pt x="188936" y="356868"/>
                  <a:pt x="191417" y="354984"/>
                </a:cubicBezTo>
                <a:cubicBezTo>
                  <a:pt x="191318" y="354390"/>
                  <a:pt x="191219" y="353696"/>
                  <a:pt x="191219" y="353002"/>
                </a:cubicBezTo>
                <a:cubicBezTo>
                  <a:pt x="191219" y="320488"/>
                  <a:pt x="175636" y="295408"/>
                  <a:pt x="159259" y="268842"/>
                </a:cubicBezTo>
                <a:cubicBezTo>
                  <a:pt x="141791" y="240788"/>
                  <a:pt x="123826" y="211843"/>
                  <a:pt x="123826" y="172786"/>
                </a:cubicBezTo>
                <a:cubicBezTo>
                  <a:pt x="123826" y="113408"/>
                  <a:pt x="172162" y="65132"/>
                  <a:pt x="231615" y="65132"/>
                </a:cubicBezTo>
                <a:close/>
                <a:moveTo>
                  <a:pt x="231601" y="0"/>
                </a:moveTo>
                <a:cubicBezTo>
                  <a:pt x="238361" y="0"/>
                  <a:pt x="243929" y="5453"/>
                  <a:pt x="243929" y="12293"/>
                </a:cubicBezTo>
                <a:lnTo>
                  <a:pt x="243929" y="39855"/>
                </a:lnTo>
                <a:cubicBezTo>
                  <a:pt x="243929" y="46695"/>
                  <a:pt x="238361" y="52148"/>
                  <a:pt x="231601" y="52148"/>
                </a:cubicBezTo>
                <a:cubicBezTo>
                  <a:pt x="224840" y="52148"/>
                  <a:pt x="219372" y="46695"/>
                  <a:pt x="219372" y="39855"/>
                </a:cubicBezTo>
                <a:lnTo>
                  <a:pt x="219372" y="12293"/>
                </a:lnTo>
                <a:cubicBezTo>
                  <a:pt x="219372" y="5453"/>
                  <a:pt x="224840" y="0"/>
                  <a:pt x="231601" y="0"/>
                </a:cubicBezTo>
                <a:close/>
              </a:path>
            </a:pathLst>
          </a:custGeom>
          <a:solidFill>
            <a:srgbClr val="1A3172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217846" y="5381121"/>
            <a:ext cx="1272103" cy="408623"/>
          </a:xfrm>
          <a:prstGeom prst="roundRect">
            <a:avLst>
              <a:gd name="adj" fmla="val 9674"/>
            </a:avLst>
          </a:prstGeom>
          <a:solidFill>
            <a:schemeClr val="bg1">
              <a:lumMod val="75000"/>
            </a:schemeClr>
          </a:solidFill>
        </p:spPr>
        <p:txBody>
          <a:bodyPr wrap="none">
            <a:norm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基本概念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3036000" y="3886071"/>
            <a:ext cx="0" cy="230505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 bwMode="auto">
          <a:xfrm>
            <a:off x="3619548" y="4098267"/>
            <a:ext cx="316452" cy="316450"/>
          </a:xfrm>
          <a:prstGeom prst="ellipse">
            <a:avLst/>
          </a:prstGeom>
          <a:solidFill>
            <a:srgbClr val="1A3172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3936001" y="3886071"/>
            <a:ext cx="7584484" cy="74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227965" algn="l"/>
              </a:tabLst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峰均比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(PAR)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约束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227965" algn="l"/>
              </a:tabLst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如果波形某些采样点的功率特别高，会导致放大器饱和失真，所有采样点的功率不能超过上限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ρ</a:t>
            </a:r>
            <a:r>
              <a:rPr lang="zh-CN" altLang="en-US" sz="1200" dirty="0">
                <a:solidFill>
                  <a:srgbClr val="000000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4071000" y="4635669"/>
            <a:ext cx="744948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 bwMode="auto">
          <a:xfrm>
            <a:off x="3619548" y="4856624"/>
            <a:ext cx="316452" cy="316450"/>
          </a:xfrm>
          <a:prstGeom prst="ellipse">
            <a:avLst/>
          </a:prstGeom>
          <a:solidFill>
            <a:srgbClr val="1A3172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3936001" y="4644428"/>
            <a:ext cx="7584484" cy="74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rmAutofit fontScale="925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227965" algn="l"/>
              </a:tabLst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PSD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（功率谱密度）分布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227965" algn="l"/>
              </a:tabLst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将能量分散在目标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PSD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有能量的各个频段，无论实际的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TIR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在哪个频段散射变强，雷达都能获得一定的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SINR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4071000" y="5394026"/>
            <a:ext cx="744948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/>
          <p:cNvSpPr/>
          <p:nvPr/>
        </p:nvSpPr>
        <p:spPr bwMode="auto">
          <a:xfrm>
            <a:off x="3619548" y="5614981"/>
            <a:ext cx="316452" cy="316450"/>
          </a:xfrm>
          <a:prstGeom prst="ellipse">
            <a:avLst/>
          </a:prstGeom>
          <a:solidFill>
            <a:srgbClr val="1A3172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sp>
        <p:nvSpPr>
          <p:cNvPr id="36" name="矩形 35"/>
          <p:cNvSpPr/>
          <p:nvPr/>
        </p:nvSpPr>
        <p:spPr bwMode="auto">
          <a:xfrm>
            <a:off x="3936001" y="5402785"/>
            <a:ext cx="7584484" cy="74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rmAutofit fontScale="92500" lnSpcReduction="2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227965" algn="l"/>
              </a:tabLst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检测概率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.</a:t>
            </a: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227965" algn="l"/>
              </a:tabLst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由于扩展目标的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SINR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抖动，使得检测概率在接近门限附近时极其敏感，因此必须从统计学角度控制其分布特性，以获得稳定的检测概率</a:t>
            </a:r>
            <a:r>
              <a:rPr lang="zh-CN" altLang="en-US" sz="1200" dirty="0">
                <a:solidFill>
                  <a:srgbClr val="000000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4071000" y="6152383"/>
            <a:ext cx="744948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0637" y="235280"/>
            <a:ext cx="10850563" cy="663575"/>
          </a:xfrm>
        </p:spPr>
        <p:txBody>
          <a:bodyPr/>
          <a:lstStyle/>
          <a:p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背景和基本概念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230" y="0"/>
            <a:ext cx="1180770" cy="1174982"/>
          </a:xfrm>
          <a:prstGeom prst="rect">
            <a:avLst/>
          </a:prstGeom>
        </p:spPr>
      </p:pic>
    </p:spTree>
  </p:cSld>
  <p:clrMapOvr>
    <a:masterClrMapping/>
  </p:clrMapOvr>
  <p:transition spd="slow" advTm="300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935C0-5DA6-3A3F-DB24-8A8D6F2FE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37F84EA-E35D-2099-125F-B269AAA43803}"/>
              </a:ext>
            </a:extLst>
          </p:cNvPr>
          <p:cNvSpPr/>
          <p:nvPr/>
        </p:nvSpPr>
        <p:spPr>
          <a:xfrm>
            <a:off x="677419" y="598161"/>
            <a:ext cx="10825884" cy="5667826"/>
          </a:xfrm>
          <a:prstGeom prst="rect">
            <a:avLst/>
          </a:prstGeom>
          <a:blipFill dpi="0" rotWithShape="1">
            <a:blip r:embed="rId3">
              <a:alphaModFix amt="8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A287028-2605-6C83-3420-433FFFCD9374}"/>
              </a:ext>
            </a:extLst>
          </p:cNvPr>
          <p:cNvGrpSpPr/>
          <p:nvPr/>
        </p:nvGrpSpPr>
        <p:grpSpPr>
          <a:xfrm>
            <a:off x="5015410" y="1465053"/>
            <a:ext cx="2149901" cy="2149901"/>
            <a:chOff x="5015408" y="1196255"/>
            <a:chExt cx="2149901" cy="2149901"/>
          </a:xfrm>
        </p:grpSpPr>
        <p:sp>
          <p:nvSpPr>
            <p:cNvPr id="10" name="菱形 9">
              <a:extLst>
                <a:ext uri="{FF2B5EF4-FFF2-40B4-BE49-F238E27FC236}">
                  <a16:creationId xmlns:a16="http://schemas.microsoft.com/office/drawing/2014/main" id="{924DB94D-5438-4150-67DB-A595520E6259}"/>
                </a:ext>
              </a:extLst>
            </p:cNvPr>
            <p:cNvSpPr/>
            <p:nvPr/>
          </p:nvSpPr>
          <p:spPr bwMode="auto">
            <a:xfrm>
              <a:off x="5015408" y="1196255"/>
              <a:ext cx="2149901" cy="2149901"/>
            </a:xfrm>
            <a:prstGeom prst="diamond">
              <a:avLst/>
            </a:prstGeom>
            <a:solidFill>
              <a:srgbClr val="1A3172"/>
            </a:solidFill>
            <a:ln w="38100">
              <a:solidFill>
                <a:srgbClr val="1A317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A13419D-685F-03C0-A49F-2053230D4638}"/>
                </a:ext>
              </a:extLst>
            </p:cNvPr>
            <p:cNvSpPr/>
            <p:nvPr/>
          </p:nvSpPr>
          <p:spPr>
            <a:xfrm>
              <a:off x="5357654" y="1671042"/>
              <a:ext cx="1476687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7200" b="1" spc="600" dirty="0">
                  <a:solidFill>
                    <a:schemeClr val="bg1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cs typeface="+mn-ea"/>
                  <a:sym typeface="字魂59号-创粗黑" panose="00000500000000000000" pitchFamily="2" charset="-122"/>
                </a:rPr>
                <a:t>02</a:t>
              </a:r>
              <a:endParaRPr lang="zh-CN" altLang="en-US" sz="7200" b="1" spc="6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7F397747-41E4-AB25-6064-04CE6AF0A5A6}"/>
              </a:ext>
            </a:extLst>
          </p:cNvPr>
          <p:cNvSpPr/>
          <p:nvPr/>
        </p:nvSpPr>
        <p:spPr>
          <a:xfrm>
            <a:off x="2449746" y="3726238"/>
            <a:ext cx="7281228" cy="1069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8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建模与统计特性分析</a:t>
            </a:r>
          </a:p>
        </p:txBody>
      </p:sp>
    </p:spTree>
    <p:extLst>
      <p:ext uri="{BB962C8B-B14F-4D97-AF65-F5344CB8AC3E}">
        <p14:creationId xmlns:p14="http://schemas.microsoft.com/office/powerpoint/2010/main" val="3708457505"/>
      </p:ext>
    </p:extLst>
  </p:cSld>
  <p:clrMapOvr>
    <a:masterClrMapping/>
  </p:clrMapOvr>
  <p:transition spd="slow" advTm="300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30269-3B79-04F4-A6B7-85CB8EAB5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0C4B746-50A7-D8C6-C5E6-6DA04BACE84B}"/>
              </a:ext>
            </a:extLst>
          </p:cNvPr>
          <p:cNvSpPr/>
          <p:nvPr/>
        </p:nvSpPr>
        <p:spPr bwMode="auto">
          <a:xfrm>
            <a:off x="1066738" y="1486259"/>
            <a:ext cx="5035517" cy="452635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sp>
        <p:nvSpPr>
          <p:cNvPr id="4" name="işḷïḋê">
            <a:extLst>
              <a:ext uri="{FF2B5EF4-FFF2-40B4-BE49-F238E27FC236}">
                <a16:creationId xmlns:a16="http://schemas.microsoft.com/office/drawing/2014/main" id="{498A72A1-34EA-63B6-9056-B83835047EED}"/>
              </a:ext>
            </a:extLst>
          </p:cNvPr>
          <p:cNvSpPr/>
          <p:nvPr/>
        </p:nvSpPr>
        <p:spPr bwMode="auto">
          <a:xfrm>
            <a:off x="1074407" y="1486259"/>
            <a:ext cx="5027848" cy="1291446"/>
          </a:xfrm>
          <a:prstGeom prst="rect">
            <a:avLst/>
          </a:prstGeom>
          <a:solidFill>
            <a:srgbClr val="1A3172"/>
          </a:solidFill>
          <a:ln>
            <a:noFill/>
          </a:ln>
        </p:spPr>
        <p:txBody>
          <a:bodyPr wrap="square" lIns="90000" tIns="46800" rIns="90000" bIns="46800" rtlCol="0">
            <a:norm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FDD16F-0234-A122-DBD2-5B403AEC068D}"/>
              </a:ext>
            </a:extLst>
          </p:cNvPr>
          <p:cNvSpPr txBox="1"/>
          <p:nvPr/>
        </p:nvSpPr>
        <p:spPr>
          <a:xfrm>
            <a:off x="2841996" y="1837816"/>
            <a:ext cx="1485000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雷达收发信号模型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0F4CB99-0932-AFFC-6B91-78582671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909" y="261331"/>
            <a:ext cx="3351970" cy="663575"/>
          </a:xfrm>
        </p:spPr>
        <p:txBody>
          <a:bodyPr/>
          <a:lstStyle/>
          <a:p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信号建模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B45B9C-1DF7-5298-A597-53EDD841FE2F}"/>
              </a:ext>
            </a:extLst>
          </p:cNvPr>
          <p:cNvSpPr txBox="1"/>
          <p:nvPr/>
        </p:nvSpPr>
        <p:spPr>
          <a:xfrm>
            <a:off x="5792660" y="1543650"/>
            <a:ext cx="278833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输出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SINR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733323-558E-941A-5680-E26783EF3301}"/>
              </a:ext>
            </a:extLst>
          </p:cNvPr>
          <p:cNvSpPr txBox="1"/>
          <p:nvPr/>
        </p:nvSpPr>
        <p:spPr>
          <a:xfrm>
            <a:off x="5654160" y="3005096"/>
            <a:ext cx="278833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TIR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模型：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pic>
        <p:nvPicPr>
          <p:cNvPr id="15" name="图片 14" descr="文本&#10;&#10;AI 生成的内容可能不正确。">
            <a:extLst>
              <a:ext uri="{FF2B5EF4-FFF2-40B4-BE49-F238E27FC236}">
                <a16:creationId xmlns:a16="http://schemas.microsoft.com/office/drawing/2014/main" id="{7E1AAFE8-2554-FDDD-CB15-E993F8767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348" y="2178905"/>
            <a:ext cx="3104484" cy="7686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785B7E5-7862-DBE5-DBF9-369EBCD0F9DE}"/>
                  </a:ext>
                </a:extLst>
              </p:cNvPr>
              <p:cNvSpPr txBox="1"/>
              <p:nvPr/>
            </p:nvSpPr>
            <p:spPr>
              <a:xfrm>
                <a:off x="6746125" y="3621774"/>
                <a:ext cx="419231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针对扩展目标的闪烁效应，假设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 服从多元复高斯分布，即</a:t>
                </a:r>
                <a:r>
                  <a:rPr lang="ar-AE" altLang="zh-CN" dirty="0"/>
                  <a:t> </a:t>
                </a:r>
                <a14:m>
                  <m:oMath xmlns:m="http://schemas.openxmlformats.org/officeDocument/2006/math">
                    <m:r>
                      <a:rPr lang="zh-CN" altLang="ar-AE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∼</m:t>
                    </m:r>
                    <m:r>
                      <a:rPr lang="zh-CN" altLang="ar-AE">
                        <a:latin typeface="Cambria Math" panose="02040503050406030204" pitchFamily="18" charset="0"/>
                      </a:rPr>
                      <m:t>𝒞𝒩</m:t>
                    </m:r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785B7E5-7862-DBE5-DBF9-369EBCD0F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125" y="3621774"/>
                <a:ext cx="4192317" cy="646331"/>
              </a:xfrm>
              <a:prstGeom prst="rect">
                <a:avLst/>
              </a:prstGeom>
              <a:blipFill>
                <a:blip r:embed="rId5"/>
                <a:stretch>
                  <a:fillRect l="-1310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A0C3AAEE-6DCA-EB6B-B20F-E88D097D8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125" y="5029098"/>
            <a:ext cx="4314825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FACDC49-2855-D1BE-BBEC-3361E6324702}"/>
              </a:ext>
            </a:extLst>
          </p:cNvPr>
          <p:cNvSpPr txBox="1"/>
          <p:nvPr/>
        </p:nvSpPr>
        <p:spPr>
          <a:xfrm>
            <a:off x="6102254" y="4353970"/>
            <a:ext cx="278833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SINR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统计特性：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p:pic>
        <p:nvPicPr>
          <p:cNvPr id="6" name="图片 5" descr="文本, 信件&#10;&#10;AI 生成的内容可能不正确。">
            <a:extLst>
              <a:ext uri="{FF2B5EF4-FFF2-40B4-BE49-F238E27FC236}">
                <a16:creationId xmlns:a16="http://schemas.microsoft.com/office/drawing/2014/main" id="{F770818C-1DDE-441E-3F86-3E633AAB4D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737" y="3053067"/>
            <a:ext cx="4945873" cy="229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05547"/>
      </p:ext>
    </p:extLst>
  </p:cSld>
  <p:clrMapOvr>
    <a:masterClrMapping/>
  </p:clrMapOvr>
  <p:transition spd="slow" advTm="3000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25C2A-3ADA-D9DC-7943-B30F956FF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9941240-33B5-3080-DC38-BB568E3EA2C1}"/>
              </a:ext>
            </a:extLst>
          </p:cNvPr>
          <p:cNvSpPr/>
          <p:nvPr/>
        </p:nvSpPr>
        <p:spPr>
          <a:xfrm>
            <a:off x="677419" y="598161"/>
            <a:ext cx="10825884" cy="5667826"/>
          </a:xfrm>
          <a:prstGeom prst="rect">
            <a:avLst/>
          </a:prstGeom>
          <a:blipFill dpi="0" rotWithShape="1">
            <a:blip r:embed="rId3">
              <a:alphaModFix amt="8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54AD797-8D87-AC9C-29DC-733B10B8A609}"/>
              </a:ext>
            </a:extLst>
          </p:cNvPr>
          <p:cNvGrpSpPr/>
          <p:nvPr/>
        </p:nvGrpSpPr>
        <p:grpSpPr>
          <a:xfrm>
            <a:off x="5015410" y="1465053"/>
            <a:ext cx="2149901" cy="2149901"/>
            <a:chOff x="5015408" y="1196255"/>
            <a:chExt cx="2149901" cy="2149901"/>
          </a:xfrm>
        </p:grpSpPr>
        <p:sp>
          <p:nvSpPr>
            <p:cNvPr id="10" name="菱形 9">
              <a:extLst>
                <a:ext uri="{FF2B5EF4-FFF2-40B4-BE49-F238E27FC236}">
                  <a16:creationId xmlns:a16="http://schemas.microsoft.com/office/drawing/2014/main" id="{9A18D873-59EE-2C09-B773-367FD6C71EA5}"/>
                </a:ext>
              </a:extLst>
            </p:cNvPr>
            <p:cNvSpPr/>
            <p:nvPr/>
          </p:nvSpPr>
          <p:spPr bwMode="auto">
            <a:xfrm>
              <a:off x="5015408" y="1196255"/>
              <a:ext cx="2149901" cy="2149901"/>
            </a:xfrm>
            <a:prstGeom prst="diamond">
              <a:avLst/>
            </a:prstGeom>
            <a:solidFill>
              <a:srgbClr val="1A3172"/>
            </a:solidFill>
            <a:ln w="38100">
              <a:solidFill>
                <a:srgbClr val="1A317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7CC4D16-4DA9-BA57-47EC-52D9E2A6374E}"/>
                </a:ext>
              </a:extLst>
            </p:cNvPr>
            <p:cNvSpPr/>
            <p:nvPr/>
          </p:nvSpPr>
          <p:spPr>
            <a:xfrm>
              <a:off x="5357654" y="1671042"/>
              <a:ext cx="1476687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7200" b="1" spc="600" dirty="0">
                  <a:solidFill>
                    <a:schemeClr val="bg1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cs typeface="+mn-ea"/>
                  <a:sym typeface="字魂59号-创粗黑" panose="00000500000000000000" pitchFamily="2" charset="-122"/>
                </a:rPr>
                <a:t>03</a:t>
              </a:r>
              <a:endParaRPr lang="zh-CN" altLang="en-US" sz="7200" b="1" spc="6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E45D0D2D-5920-A2BD-715A-E21938C88583}"/>
              </a:ext>
            </a:extLst>
          </p:cNvPr>
          <p:cNvSpPr/>
          <p:nvPr/>
        </p:nvSpPr>
        <p:spPr>
          <a:xfrm>
            <a:off x="2449746" y="3734865"/>
            <a:ext cx="7281228" cy="1069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8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PRD</a:t>
            </a:r>
            <a:r>
              <a:rPr lang="zh-CN" altLang="en-US" sz="48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准则与优化算法</a:t>
            </a:r>
          </a:p>
        </p:txBody>
      </p:sp>
    </p:spTree>
    <p:extLst>
      <p:ext uri="{BB962C8B-B14F-4D97-AF65-F5344CB8AC3E}">
        <p14:creationId xmlns:p14="http://schemas.microsoft.com/office/powerpoint/2010/main" val="3120422616"/>
      </p:ext>
    </p:extLst>
  </p:cSld>
  <p:clrMapOvr>
    <a:masterClrMapping/>
  </p:clrMapOvr>
  <p:transition spd="slow" advTm="300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54C7D-320E-878C-5FD3-57CF58714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020CA-73D0-71E1-05AF-3C4F7C12B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909" y="261331"/>
            <a:ext cx="3351970" cy="663575"/>
          </a:xfrm>
        </p:spPr>
        <p:txBody>
          <a:bodyPr/>
          <a:lstStyle/>
          <a:p>
            <a:r>
              <a:rPr lang="en-US" altLang="zh-CN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PRD</a:t>
            </a:r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准则</a:t>
            </a: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CB163628-EA86-9141-8043-60A4AA21A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58" y="1136388"/>
            <a:ext cx="5600700" cy="4972050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820EC2B1-15E3-F5A3-C950-A628A5D8D2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287" y="2042844"/>
            <a:ext cx="5465913" cy="79343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386569E-D164-3981-1D1B-739C410AE3B0}"/>
              </a:ext>
            </a:extLst>
          </p:cNvPr>
          <p:cNvSpPr txBox="1"/>
          <p:nvPr/>
        </p:nvSpPr>
        <p:spPr>
          <a:xfrm>
            <a:off x="5817583" y="1348416"/>
            <a:ext cx="278833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字魂59号-创粗黑" panose="00000500000000000000" pitchFamily="2" charset="-122"/>
                <a:ea typeface="字魂59号-创粗黑" panose="00000500000000000000" pitchFamily="2" charset="-122"/>
                <a:cs typeface="+mn-cs"/>
                <a:sym typeface="字魂59号-创粗黑" panose="00000500000000000000" pitchFamily="2" charset="-122"/>
              </a:rPr>
              <a:t>检测概率：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字魂59号-创粗黑" panose="00000500000000000000" pitchFamily="2" charset="-122"/>
              <a:ea typeface="字魂59号-创粗黑" panose="00000500000000000000" pitchFamily="2" charset="-122"/>
              <a:cs typeface="+mn-cs"/>
              <a:sym typeface="字魂59号-创粗黑" panose="000005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77FD156-C96C-659A-F08D-C777E7EC5B87}"/>
                  </a:ext>
                </a:extLst>
              </p:cNvPr>
              <p:cNvSpPr txBox="1"/>
              <p:nvPr/>
            </p:nvSpPr>
            <p:spPr>
              <a:xfrm>
                <a:off x="6421287" y="3622413"/>
                <a:ext cx="518483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在给定虚警推导的检测门限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i="0" dirty="0">
                    <a:solidFill>
                      <a:srgbClr val="3B3B3B"/>
                    </a:solidFill>
                    <a:effectLst/>
                    <a:latin typeface="-apple-system"/>
                  </a:rPr>
                  <a:t> 下，我们期望获得最大且稳定的检测概率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77FD156-C96C-659A-F08D-C777E7EC5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287" y="3622413"/>
                <a:ext cx="5184834" cy="646331"/>
              </a:xfrm>
              <a:prstGeom prst="rect">
                <a:avLst/>
              </a:prstGeom>
              <a:blipFill>
                <a:blip r:embed="rId6"/>
                <a:stretch>
                  <a:fillRect l="-940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 descr="文本&#10;&#10;AI 生成的内容可能不正确。">
            <a:extLst>
              <a:ext uri="{FF2B5EF4-FFF2-40B4-BE49-F238E27FC236}">
                <a16:creationId xmlns:a16="http://schemas.microsoft.com/office/drawing/2014/main" id="{D8526D8E-7554-9EF8-7003-B653D1848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1861" y="4397436"/>
            <a:ext cx="2971980" cy="657438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B4A81D79-D1C2-E31B-76F7-97C5DDAAA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791" y="5183566"/>
            <a:ext cx="3933825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550046"/>
      </p:ext>
    </p:extLst>
  </p:cSld>
  <p:clrMapOvr>
    <a:masterClrMapping/>
  </p:clrMapOvr>
  <p:transition spd="slow" advTm="3000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73B90-A256-54B9-2549-7CB0957E4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88001-D505-DC36-4C53-FC83C4257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909" y="261331"/>
            <a:ext cx="3351970" cy="663575"/>
          </a:xfrm>
        </p:spPr>
        <p:txBody>
          <a:bodyPr/>
          <a:lstStyle/>
          <a:p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算法流程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B9084E-B178-81A9-743B-A87A04503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" y="1335118"/>
            <a:ext cx="11982450" cy="2876550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4BACA73B-826A-2BFF-76E4-09B02220E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362" y="4397592"/>
            <a:ext cx="2613804" cy="83641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1AAF5EA-5A8F-01B7-E5AE-A1A1ECD12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826" y="5306144"/>
            <a:ext cx="776287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381050"/>
      </p:ext>
    </p:extLst>
  </p:cSld>
  <p:clrMapOvr>
    <a:masterClrMapping/>
  </p:clrMapOvr>
  <p:transition spd="slow" advTm="3000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282C4-6187-3B7A-E5F6-2F742C8B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CF57BB3-0F11-6EBB-5843-02A9926C6566}"/>
              </a:ext>
            </a:extLst>
          </p:cNvPr>
          <p:cNvSpPr/>
          <p:nvPr/>
        </p:nvSpPr>
        <p:spPr>
          <a:xfrm>
            <a:off x="677419" y="598161"/>
            <a:ext cx="10825884" cy="5667826"/>
          </a:xfrm>
          <a:prstGeom prst="rect">
            <a:avLst/>
          </a:prstGeom>
          <a:blipFill dpi="0" rotWithShape="1">
            <a:blip r:embed="rId3">
              <a:alphaModFix amt="8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1B0F2DE-1BD9-82EE-88BC-E11FBD4F2F88}"/>
              </a:ext>
            </a:extLst>
          </p:cNvPr>
          <p:cNvGrpSpPr/>
          <p:nvPr/>
        </p:nvGrpSpPr>
        <p:grpSpPr>
          <a:xfrm>
            <a:off x="5015410" y="1465053"/>
            <a:ext cx="2149901" cy="2149901"/>
            <a:chOff x="5015408" y="1196255"/>
            <a:chExt cx="2149901" cy="2149901"/>
          </a:xfrm>
        </p:grpSpPr>
        <p:sp>
          <p:nvSpPr>
            <p:cNvPr id="10" name="菱形 9">
              <a:extLst>
                <a:ext uri="{FF2B5EF4-FFF2-40B4-BE49-F238E27FC236}">
                  <a16:creationId xmlns:a16="http://schemas.microsoft.com/office/drawing/2014/main" id="{40C04DBD-3657-15C5-9717-7CB1045E87B8}"/>
                </a:ext>
              </a:extLst>
            </p:cNvPr>
            <p:cNvSpPr/>
            <p:nvPr/>
          </p:nvSpPr>
          <p:spPr bwMode="auto">
            <a:xfrm>
              <a:off x="5015408" y="1196255"/>
              <a:ext cx="2149901" cy="2149901"/>
            </a:xfrm>
            <a:prstGeom prst="diamond">
              <a:avLst/>
            </a:prstGeom>
            <a:solidFill>
              <a:srgbClr val="1A3172"/>
            </a:solidFill>
            <a:ln w="38100">
              <a:solidFill>
                <a:srgbClr val="1A317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7F7C873-F441-43AF-251C-1AE407ACB914}"/>
                </a:ext>
              </a:extLst>
            </p:cNvPr>
            <p:cNvSpPr/>
            <p:nvPr/>
          </p:nvSpPr>
          <p:spPr>
            <a:xfrm>
              <a:off x="5357654" y="1671042"/>
              <a:ext cx="1476687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7200" b="1" spc="600" dirty="0">
                  <a:solidFill>
                    <a:schemeClr val="bg1"/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  <a:cs typeface="+mn-ea"/>
                  <a:sym typeface="字魂59号-创粗黑" panose="00000500000000000000" pitchFamily="2" charset="-122"/>
                </a:rPr>
                <a:t>04</a:t>
              </a:r>
              <a:endParaRPr lang="zh-CN" altLang="en-US" sz="7200" b="1" spc="6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338C6CB6-FCC0-3D88-FC01-CB4B483F2FF4}"/>
              </a:ext>
            </a:extLst>
          </p:cNvPr>
          <p:cNvSpPr/>
          <p:nvPr/>
        </p:nvSpPr>
        <p:spPr>
          <a:xfrm>
            <a:off x="2449746" y="3734865"/>
            <a:ext cx="7281228" cy="1069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8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仿真分析与性能总结</a:t>
            </a:r>
          </a:p>
        </p:txBody>
      </p:sp>
    </p:spTree>
    <p:extLst>
      <p:ext uri="{BB962C8B-B14F-4D97-AF65-F5344CB8AC3E}">
        <p14:creationId xmlns:p14="http://schemas.microsoft.com/office/powerpoint/2010/main" val="21913452"/>
      </p:ext>
    </p:extLst>
  </p:cSld>
  <p:clrMapOvr>
    <a:masterClrMapping/>
  </p:clrMapOvr>
  <p:transition spd="slow" advTm="3000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341437" y="260213"/>
            <a:ext cx="10850563" cy="663575"/>
          </a:xfrm>
        </p:spPr>
        <p:txBody>
          <a:bodyPr/>
          <a:lstStyle/>
          <a:p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实验一：迭代收敛有效性论证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103" y="102955"/>
            <a:ext cx="1180770" cy="11749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539FC3A-DF65-FB04-13D8-B4E296776E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43" y="923788"/>
            <a:ext cx="7692700" cy="5768499"/>
          </a:xfrm>
          <a:prstGeom prst="rect">
            <a:avLst/>
          </a:prstGeom>
        </p:spPr>
      </p:pic>
    </p:spTree>
  </p:cSld>
  <p:clrMapOvr>
    <a:masterClrMapping/>
  </p:clrMapOvr>
  <p:transition spd="slow" advTm="3000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B77F0-F0CB-D75D-D0D6-A9C98A8CF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346F1C8-727A-C73A-7033-8214F868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437" y="260213"/>
            <a:ext cx="10850563" cy="663575"/>
          </a:xfrm>
        </p:spPr>
        <p:txBody>
          <a:bodyPr/>
          <a:lstStyle/>
          <a:p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实验二：</a:t>
            </a:r>
            <a:r>
              <a:rPr lang="en-US" altLang="zh-CN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PAR </a:t>
            </a:r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参数控制与强波形解析容错验证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EE6C2A7-E7EC-2010-2C78-6FFA1345D4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103" y="102955"/>
            <a:ext cx="1180770" cy="1174982"/>
          </a:xfrm>
          <a:prstGeom prst="rect">
            <a:avLst/>
          </a:prstGeom>
        </p:spPr>
      </p:pic>
      <p:pic>
        <p:nvPicPr>
          <p:cNvPr id="6" name="图片 5" descr="图形用户界面, 图表&#10;&#10;AI 生成的内容可能不正确。">
            <a:extLst>
              <a:ext uri="{FF2B5EF4-FFF2-40B4-BE49-F238E27FC236}">
                <a16:creationId xmlns:a16="http://schemas.microsoft.com/office/drawing/2014/main" id="{4E586E91-A115-442B-FDB6-5B6BA1C76F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21" y="1442941"/>
            <a:ext cx="5518134" cy="429362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EC6C183-CDC1-68A9-1E14-11C5F5CD6D11}"/>
              </a:ext>
            </a:extLst>
          </p:cNvPr>
          <p:cNvSpPr txBox="1"/>
          <p:nvPr/>
        </p:nvSpPr>
        <p:spPr>
          <a:xfrm>
            <a:off x="1816360" y="5754985"/>
            <a:ext cx="3068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验证合成波形满足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PAR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约束</a:t>
            </a:r>
            <a:endParaRPr lang="zh-CN" altLang="en-US" dirty="0"/>
          </a:p>
        </p:txBody>
      </p:sp>
      <p:pic>
        <p:nvPicPr>
          <p:cNvPr id="11" name="图片 10" descr="日历&#10;&#10;AI 生成的内容可能不正确。">
            <a:extLst>
              <a:ext uri="{FF2B5EF4-FFF2-40B4-BE49-F238E27FC236}">
                <a16:creationId xmlns:a16="http://schemas.microsoft.com/office/drawing/2014/main" id="{2D357A96-6027-28D3-9BBB-EB93914D95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37" y="1435195"/>
            <a:ext cx="5520376" cy="429362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FF9DA34-CF17-C3CE-B475-6FED3DA694B3}"/>
              </a:ext>
            </a:extLst>
          </p:cNvPr>
          <p:cNvSpPr txBox="1"/>
          <p:nvPr/>
        </p:nvSpPr>
        <p:spPr>
          <a:xfrm>
            <a:off x="7413173" y="5754985"/>
            <a:ext cx="3221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评估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SDR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松弛引起的性能损失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595792-0921-53BB-1C25-0FD4BC89A7A0}"/>
              </a:ext>
            </a:extLst>
          </p:cNvPr>
          <p:cNvSpPr txBox="1"/>
          <p:nvPr/>
        </p:nvSpPr>
        <p:spPr>
          <a:xfrm>
            <a:off x="2417912" y="6255720"/>
            <a:ext cx="7356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B3B3B"/>
                </a:solidFill>
                <a:effectLst/>
                <a:latin typeface="Segoe WPC"/>
              </a:rPr>
              <a:t>验证理论上的优化矩阵能否顺利转化成雷达天线能发射的物理波形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9329405"/>
      </p:ext>
    </p:extLst>
  </p:cSld>
  <p:clrMapOvr>
    <a:masterClrMapping/>
  </p:clrMapOvr>
  <p:transition spd="slow" advTm="3000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087-D0A5-991A-C64A-64552C16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7BCE12D-46C2-A20D-136E-D23190DC4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437" y="260213"/>
            <a:ext cx="10850563" cy="663575"/>
          </a:xfrm>
        </p:spPr>
        <p:txBody>
          <a:bodyPr/>
          <a:lstStyle/>
          <a:p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实验三：</a:t>
            </a:r>
            <a:r>
              <a:rPr lang="en-US" altLang="zh-CN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SINR </a:t>
            </a:r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分布对比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09E55F5-2AD3-02A6-A288-F8797FC4B8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103" y="102955"/>
            <a:ext cx="1180770" cy="1174982"/>
          </a:xfrm>
          <a:prstGeom prst="rect">
            <a:avLst/>
          </a:prstGeom>
        </p:spPr>
      </p:pic>
      <p:pic>
        <p:nvPicPr>
          <p:cNvPr id="3" name="图片 2" descr="图表, 直方图&#10;&#10;AI 生成的内容可能不正确。">
            <a:extLst>
              <a:ext uri="{FF2B5EF4-FFF2-40B4-BE49-F238E27FC236}">
                <a16:creationId xmlns:a16="http://schemas.microsoft.com/office/drawing/2014/main" id="{981A4664-4F66-5CAE-7B1E-707B4A4EAA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1" y="1487799"/>
            <a:ext cx="5660127" cy="424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40792"/>
      </p:ext>
    </p:extLst>
  </p:cSld>
  <p:clrMapOvr>
    <a:masterClrMapping/>
  </p:clrMapOvr>
  <p:transition spd="slow" advTm="3000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B54F1-1100-F767-3F1B-39640C95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F691CBD-A29A-1FC1-7659-C718520B9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437" y="260213"/>
            <a:ext cx="10850563" cy="663575"/>
          </a:xfrm>
        </p:spPr>
        <p:txBody>
          <a:bodyPr/>
          <a:lstStyle/>
          <a:p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实验三：</a:t>
            </a:r>
            <a:r>
              <a:rPr lang="en-US" altLang="zh-CN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SINR </a:t>
            </a:r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分布对比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C8EEC63-44A3-14A8-1DBA-77D89E56E9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103" y="102955"/>
            <a:ext cx="1180770" cy="1174982"/>
          </a:xfrm>
          <a:prstGeom prst="rect">
            <a:avLst/>
          </a:prstGeom>
        </p:spPr>
      </p:pic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968648F7-6F92-5816-5A1F-3B187C8B53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487" y="1694833"/>
            <a:ext cx="5660127" cy="424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19239"/>
      </p:ext>
    </p:extLst>
  </p:cSld>
  <p:clrMapOvr>
    <a:masterClrMapping/>
  </p:clrMapOvr>
  <p:transition spd="slow" advTm="3000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71EA8-8C3B-2CE6-1238-C919CE66F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15E206F-8EB7-3035-B477-924E95695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437" y="260213"/>
            <a:ext cx="10850563" cy="663575"/>
          </a:xfrm>
        </p:spPr>
        <p:txBody>
          <a:bodyPr/>
          <a:lstStyle/>
          <a:p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实验四：波形</a:t>
            </a:r>
            <a:r>
              <a:rPr lang="en-US" altLang="zh-CN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PSD</a:t>
            </a:r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对比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98E5EAB-BE3C-A9B9-42A6-593C8BF226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103" y="102955"/>
            <a:ext cx="1180770" cy="1174982"/>
          </a:xfrm>
          <a:prstGeom prst="rect">
            <a:avLst/>
          </a:prstGeom>
        </p:spPr>
      </p:pic>
      <p:pic>
        <p:nvPicPr>
          <p:cNvPr id="3" name="图片 2" descr="直方图&#10;&#10;AI 生成的内容可能不正确。">
            <a:extLst>
              <a:ext uri="{FF2B5EF4-FFF2-40B4-BE49-F238E27FC236}">
                <a16:creationId xmlns:a16="http://schemas.microsoft.com/office/drawing/2014/main" id="{7D2E7CF7-1D0E-A85D-AD1C-03B057DBDF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66" y="1670537"/>
            <a:ext cx="5516521" cy="4136655"/>
          </a:xfrm>
          <a:prstGeom prst="rect">
            <a:avLst/>
          </a:prstGeom>
        </p:spPr>
      </p:pic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F9D16505-A4CC-1A73-39F2-35783EB958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8" y="1670537"/>
            <a:ext cx="5516521" cy="413665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D45C0E5-AF03-3E2A-1378-5F0DAB40971F}"/>
              </a:ext>
            </a:extLst>
          </p:cNvPr>
          <p:cNvSpPr txBox="1"/>
          <p:nvPr/>
        </p:nvSpPr>
        <p:spPr>
          <a:xfrm>
            <a:off x="1858472" y="6085464"/>
            <a:ext cx="9084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PRD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波形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模仿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目标的频域特征，即使某个频点的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TIR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偏离预期，其他频点仍能保证检测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7086274"/>
      </p:ext>
    </p:extLst>
  </p:cSld>
  <p:clrMapOvr>
    <a:masterClrMapping/>
  </p:clrMapOvr>
  <p:transition spd="slow" advTm="3000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13133-D329-0FAB-BDA8-4AE246E02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7189AA7-6550-5EE0-A660-330F7DA23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437" y="260213"/>
            <a:ext cx="10850563" cy="663575"/>
          </a:xfrm>
        </p:spPr>
        <p:txBody>
          <a:bodyPr/>
          <a:lstStyle/>
          <a:p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实验五：稳定检测概率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5D21409-58FC-F98D-4F47-D65E0E3584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103" y="102955"/>
            <a:ext cx="1180770" cy="1174982"/>
          </a:xfrm>
          <a:prstGeom prst="rect">
            <a:avLst/>
          </a:prstGeom>
        </p:spPr>
      </p:pic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B8B90A8E-502E-5746-FEF6-95544DD3F0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716" y="1081046"/>
            <a:ext cx="9527260" cy="428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66146"/>
      </p:ext>
    </p:extLst>
  </p:cSld>
  <p:clrMapOvr>
    <a:masterClrMapping/>
  </p:clrMapOvr>
  <p:transition spd="slow" advTm="3000">
    <p:push dir="u"/>
  </p:transition>
</p:sld>
</file>

<file path=ppt/theme/theme1.xml><?xml version="1.0" encoding="utf-8"?>
<a:theme xmlns:a="http://schemas.openxmlformats.org/drawingml/2006/main" name="千图网拥有20W+精美PPT模板 更多PPT模板下载至：www.58pic.com/office/ppt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167A2"/>
      </a:accent1>
      <a:accent2>
        <a:srgbClr val="0F4D96"/>
      </a:accent2>
      <a:accent3>
        <a:srgbClr val="3491CA"/>
      </a:accent3>
      <a:accent4>
        <a:srgbClr val="1B9AF9"/>
      </a:accent4>
      <a:accent5>
        <a:srgbClr val="01A4E1"/>
      </a:accent5>
      <a:accent6>
        <a:srgbClr val="006EBE"/>
      </a:accent6>
      <a:hlink>
        <a:srgbClr val="4472C4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 123">
  <a:themeElements>
    <a:clrScheme name="答辩宝典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167A2"/>
      </a:accent1>
      <a:accent2>
        <a:srgbClr val="0F4D96"/>
      </a:accent2>
      <a:accent3>
        <a:srgbClr val="3491CA"/>
      </a:accent3>
      <a:accent4>
        <a:srgbClr val="1B9AF9"/>
      </a:accent4>
      <a:accent5>
        <a:srgbClr val="01A4E1"/>
      </a:accent5>
      <a:accent6>
        <a:srgbClr val="006EBE"/>
      </a:accent6>
      <a:hlink>
        <a:srgbClr val="4472C4"/>
      </a:hlink>
      <a:folHlink>
        <a:srgbClr val="BFBFBF"/>
      </a:folHlink>
    </a:clrScheme>
    <a:fontScheme name="wmzyb4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38100">
          <a:noFill/>
        </a:ln>
      </a:spPr>
      <a:bodyPr rtlCol="0" anchor="ctr"/>
      <a:lstStyle>
        <a:defPPr algn="ctr">
          <a:defRPr dirty="0" smtClean="0">
            <a:solidFill>
              <a:schemeClr val="dk1"/>
            </a:solidFill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3175" cap="rnd">
          <a:solidFill>
            <a:schemeClr val="bg1">
              <a:lumMod val="75000"/>
            </a:schemeClr>
          </a:solidFill>
          <a:round/>
          <a:headEnd type="none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tIns="46800" rIns="90000" bIns="46800" rtlCol="0" anchor="ctr" anchorCtr="0">
        <a:normAutofit/>
      </a:bodyPr>
      <a:lstStyle>
        <a:defPPr algn="ctr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答辩宝典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答辩宝典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答辩宝典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答辩宝典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答辩宝典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ppt/theme/themeOverride9.xml><?xml version="1.0" encoding="utf-8"?>
<a:themeOverride xmlns:a="http://schemas.openxmlformats.org/drawingml/2006/main">
  <a:clrScheme name="答辩宝典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425</Words>
  <Application>Microsoft Office PowerPoint</Application>
  <PresentationFormat>宽屏</PresentationFormat>
  <Paragraphs>80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-apple-system</vt:lpstr>
      <vt:lpstr>Segoe WPC</vt:lpstr>
      <vt:lpstr>等线</vt:lpstr>
      <vt:lpstr>字魂59号-创粗黑</vt:lpstr>
      <vt:lpstr>Arial</vt:lpstr>
      <vt:lpstr>Calibri</vt:lpstr>
      <vt:lpstr>Cambria Math</vt:lpstr>
      <vt:lpstr>千图网拥有20W+精美PPT模板 更多PPT模板下载至：www.58pic.com/office/ppt</vt:lpstr>
      <vt:lpstr> 123</vt:lpstr>
      <vt:lpstr>PowerPoint 演示文稿</vt:lpstr>
      <vt:lpstr>PowerPoint 演示文稿</vt:lpstr>
      <vt:lpstr>PowerPoint 演示文稿</vt:lpstr>
      <vt:lpstr>背景和基本概念</vt:lpstr>
      <vt:lpstr>PowerPoint 演示文稿</vt:lpstr>
      <vt:lpstr>信号建模</vt:lpstr>
      <vt:lpstr>PowerPoint 演示文稿</vt:lpstr>
      <vt:lpstr>PRD准则</vt:lpstr>
      <vt:lpstr>算法流程</vt:lpstr>
      <vt:lpstr>PowerPoint 演示文稿</vt:lpstr>
      <vt:lpstr>实验一：迭代收敛有效性论证</vt:lpstr>
      <vt:lpstr>实验二：PAR 参数控制与强波形解析容错验证</vt:lpstr>
      <vt:lpstr>实验三：SINR 分布对比</vt:lpstr>
      <vt:lpstr>实验三：SINR 分布对比</vt:lpstr>
      <vt:lpstr>实验四：波形PSD对比</vt:lpstr>
      <vt:lpstr>实验五：稳定检测概率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简约毕业答辩设计论文答辩PPT模板</dc:title>
  <dc:creator>.</dc:creator>
  <cp:lastModifiedBy>he yun</cp:lastModifiedBy>
  <cp:revision>193</cp:revision>
  <dcterms:created xsi:type="dcterms:W3CDTF">2019-08-14T01:28:45Z</dcterms:created>
  <dcterms:modified xsi:type="dcterms:W3CDTF">2026-03-01T04:33:10Z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8</vt:lpwstr>
  </property>
  <property fmtid="{D5CDD505-2E9C-101B-9397-08002B2CF9AE}" pid="3" name="KSOProductBuildVer">
    <vt:lpwstr>2052-1.4.0.1935</vt:lpwstr>
  </property>
</Properties>
</file>